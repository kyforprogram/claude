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54864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Palo Alto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A582F"/>
                </a:solidFill>
              </a:rPr>
              <a:t>ライセンス体系 完全まとめ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STRATA / Prisma SASE / Cortex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Palo Alto Networks 製品ポートフォリオ概要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NGFW (PAシリーズ) ライセンス体系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サブスクリプションバンドル (Professional / Enterprise)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クラウド提供型セキュリティサービス (CDSS) 詳細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251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VM-Series / CN-Series — Software NGFW Credits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20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Prisma Access (SASE) ライセンス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1615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Cortex XDR / XSIAM ライセンス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6596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9933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AIOps / Strata Cloud Manager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4320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77063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GlobalProtect / SD-WAN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52044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5478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サポートティア &amp; ライセンス更新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297680"/>
            <a:ext cx="411480" cy="41148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3251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製品別ライセンス比較まとめ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  製品ポートフォリオ概要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566160" cy="82296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3832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STRATA
(ネットワークセキュリティ)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566160" cy="448056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PA-Series (ハードウェアNGFW)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VM-Series (仮想NGFW)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CN-Series (コンテナNGFW)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Panorama (集中管理)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Strata Cloud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66160" cy="82296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07008"/>
            <a:ext cx="33832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Prisma SASE
(クラウド &amp; モバイル)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3566160" cy="448056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Prisma Access (SWG/ZTNA)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Prisma SD-WAN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Autonomous DEM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ADEM / IoT Security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SaaS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188720"/>
            <a:ext cx="3566160" cy="8229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07008"/>
            <a:ext cx="33832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Cortex
(SOC &amp; 自動化)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2011680"/>
            <a:ext cx="3566160" cy="4480560"/>
          </a:xfrm>
          <a:prstGeom prst="rect">
            <a:avLst/>
          </a:prstGeom>
          <a:solidFill>
            <a:srgbClr val="F2F2F2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Cortex XDR (EDR/XDR)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Cortex XSIAM (AI-SOC)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Cortex XSOAR (SOAR)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Cortex Xpanse (ASM)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2C2C"/>
                </a:solidFill>
              </a:rPr>
              <a:t>• Cortex Data Lake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  NGFW (PAシリーズ) ライセンス体系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582F"/>
                </a:solidFill>
              </a:rPr>
              <a:t>ハードウェアラインナップ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PA-400 シリーズ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600200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636776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小規模拠点・ブランチ向け
PA-410 / 415 / 440 / 445 / 450 / 460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50008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41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PA-800 シリーズ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8" y="2350008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2386584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中規模企業向け
PA-820 / 850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99816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912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PA-1400 シリーズ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3099816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313639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中〜大規模キャンパス向け
PA-1410 / 1420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410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PA-3400 シリーズ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3849624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388620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エンタープライズ向け
PA-3410 / 3420 / 3430 / 3440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99432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908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PA-5400 シリーズ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4599432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4636008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大規模データセンター向け
PA-5410 / 5420 / 5430 / 5440 / 5445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201168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40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PA-7500 シリーズ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5349240"/>
            <a:ext cx="33832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5385816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超大規模DC・キャリア向け
PA-7510 / 7520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EC7"/>
                </a:solidFill>
              </a:rPr>
              <a:t>ライセンス構造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600200"/>
            <a:ext cx="109728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0256" y="1600200"/>
            <a:ext cx="52120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</a:rPr>
              <a:t>ハードウェア本体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1947672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アプライアンス購入（永続）
別途サブスクリプション・サポートが必要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770632"/>
            <a:ext cx="109728" cy="100584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0256" y="2770632"/>
            <a:ext cx="52120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816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582F"/>
                </a:solidFill>
              </a:rPr>
              <a:t>サブスクリプション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118104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年間 or 3年契約
Threat Prevention / URL Filtering /
WildFire / DNS Security 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941064"/>
            <a:ext cx="109728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20256" y="3941064"/>
            <a:ext cx="52120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9867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サポートサービス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288536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Premium Support（必須）
Platinum Support（オプション）
更新: 1年 / 3年単位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5111496"/>
            <a:ext cx="109728" cy="10058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20256" y="5111496"/>
            <a:ext cx="52120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157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64"/>
                </a:solidFill>
              </a:rPr>
              <a:t>バンドルライセンス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5458968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Professional Bundle（4サービスセット）
Enterprise Bundle（7サービスセット）
単品より15〜25%割引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 サブスクリプションバンドル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PAシリーズ向け2種類のバンドルライセンスが提供されています。単品購入より15〜25%割引。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65836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Professional Bundle
(PRO)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セキュリティ必須4機能セット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85416"/>
            <a:ext cx="5486400" cy="429768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C7"/>
                </a:solidFill>
              </a:rPr>
              <a:t>単品合計比 約15〜20%割引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Threat Prevention（IPS/アンチウイルス/アンチスパイウェア）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Advanced URL Filtering（URLフィルタリング）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Advanced WildFire（クラウドサンドボックス解析）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DNS Security（DNSベースのC2遮断）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C7"/>
                </a:solidFill>
              </a:rPr>
              <a:t>★ 基本的な脅威対策をカバー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486400" cy="658368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27048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Enterprise Bundle
(ENT)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包括的エンタープライズセキュリティ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85416"/>
            <a:ext cx="5486400" cy="42976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582F"/>
                </a:solidFill>
              </a:rPr>
              <a:t>単品合計比 約20〜25%割引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PRO Bundle の全機能を含む（上記4サービス）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IoT Security（IoTデバイス可視化・制御）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SaaS Security Inline（SaaSアプリのリアルタイム制御）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✔  SD-WAN（ソフトウェア定義WAN機能）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582F"/>
                </a:solidFill>
              </a:rPr>
              <a:t>★ ゼロトラスト推進・OT/IoT環境に最適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64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※ 契約期間: 1年 / 3年（3年契約でさらに割引）　　※ SKU例: PAN-PA-440-BND-PRO-3YR / PAN-PA-440-BND-ENT-3YR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 クラウド提供型セキュリティサービス (CDSS)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657600" cy="59436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Threat
Prevention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IPS・アンチウイルス・アンチスパイウェア機能を提供。インラインML推論によりゼロデイ脅威をリアルタイムブロック。WildFireと連携してファイルレス攻撃も検知。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59436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43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URL
Filtering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PANDBデータベースを使用したURLカテゴリフィルタリング。ML機能により未知の悪性URLをリアルタイム検知・遮断。フィッシング・クレデンシャル盗難対策を含む。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097280"/>
            <a:ext cx="365760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143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
WildFire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69164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クラウドベースのサンドボックスで未知マルウェアを解析。静的解析 + 動的解析 + ML分析を組み合わせ。1日40億以上のサンプルを処理・シグネチャ自動配信。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57600"/>
            <a:ext cx="3657600" cy="5943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DNS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5196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32511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DNSベースのC2通信・データ窃取をリアルタイム遮断。インフラ変更不要でDNS通信を保護。DNSトンネリング検知・DGAドメイン検知機能搭載。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657600" cy="594360"/>
          </a:xfrm>
          <a:prstGeom prst="rect">
            <a:avLst/>
          </a:prstGeom>
          <a:solidFill>
            <a:srgbClr val="682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SaaS Security
Inline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5196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682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432511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NGFWのインラインでSaaSアプリを可視化・制御。Shadow IT検出、リアルタイムのDLP機能。Microsoft 365 / Google Workspace等300以上のSaaSに対応。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657600"/>
            <a:ext cx="3657600" cy="59436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IoT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4251960"/>
            <a:ext cx="365760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00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432511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ネットワーク上のIoT/OTデバイスを自動識別・分類。デバイスのリスクスコアリングと異常検知。NAC連携によるセグメンテーション推奨機能。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236208"/>
            <a:ext cx="11338560" cy="36576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7278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※ CDSS はすべてサブスクリプション契約。PA/VM/CN Series に追加購入可能。バンドルで購入すると割安。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  VM-Series / CN-Series — Software NGFW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11338560" cy="6858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Software NGFW Credits（Flexクレジット）は VM-Series / CN-Series 向けの柔軟なサブスクリプション体系です。
vCPU数・必要なCDSSをクレジットで選択でき、途中でスペック変更が可能です。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EC7"/>
                </a:solidFill>
              </a:rPr>
              <a:t>クレジット消費モデル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828800" cy="7772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VM-Series vCPU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2331720"/>
            <a:ext cx="3566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23774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vCPU数に応じてクレジット消費
（メモリ量は問わない）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1828800" cy="7772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CN-Series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3246120"/>
            <a:ext cx="3566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32918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Kubernetes/コンテナ環境用
同じクレジットプールを使用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828800" cy="7772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CDSS追加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4160520"/>
            <a:ext cx="3566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42062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ATP / URL / WildFire / DNS Security等
必要なサービスのみ選択可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828800" cy="7772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66360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Panorama仮想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5074920"/>
            <a:ext cx="3566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5728" y="51206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仮想Panoramaアプライアンスにも
クレジット適用可能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745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582F"/>
                </a:solidFill>
              </a:rPr>
              <a:t>対応プラットフォーム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331720"/>
            <a:ext cx="530352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386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582F"/>
                </a:solidFill>
              </a:rPr>
              <a:t>オンプレミス仮想化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3405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VMware ESXi, Hyper-V, KVM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337560"/>
            <a:ext cx="530352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3924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582F"/>
                </a:solidFill>
              </a:rPr>
              <a:t>パブリッククラウド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398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AWS, Microsoft Azure, Google Cloud
Oracle Cloud, Alibaba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343400"/>
            <a:ext cx="530352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398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582F"/>
                </a:solidFill>
              </a:rPr>
              <a:t>コンテナ環境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4573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Kubernetes (CN-Series)
OpenShift 対応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66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664"/>
                </a:solidFill>
              </a:rPr>
              <a:t>契約期間 &amp; 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235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クレジットは購入後12ヶ月 or 36ヶ月で期限切れ（未使用分も失効）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Customer Support Portal から集中管理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途中でvCPU数・CDSSの変更が可能（柔軟性が高い）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更新時は追加クレジット購入で継続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  Prisma Access (SASE) ライセンス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</a:rPr>
              <a:t>Prisma Access は Palo Alto Networks のクラウド型 SASE ソリューション。ユーザー数・帯域・ロケーション数に基づくサブスクリプション。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657600" cy="62179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3474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Prisma Access
(ベース)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3657600" cy="35204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Secure Web Gateway (SWG)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Cloud Access Security Broker (CASB)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Zero Trust Network Access (ZTNA)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Firewall-as-a-Service (FWaaS)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SD-WAN 統合オプション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対象: モバイルユーザー &amp; 拠点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657600" cy="621792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3474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Prisma Access
+ Advanced Threat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3657600" cy="352044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ベースの全機能を含む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Advanced WildFire 統合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DNS Security 統合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Advanced URL Filtering 統合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Advanced Threat Prevention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データ損失防止 (DLP) オプション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3657600" cy="62179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474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アドオン
オプション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148840"/>
            <a:ext cx="3657600" cy="3520440"/>
          </a:xfrm>
          <a:prstGeom prst="rect">
            <a:avLst/>
          </a:prstGeom>
          <a:solidFill>
            <a:srgbClr val="F2F2F2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Autonomous DEM（デジタルエクスペリエンス監視）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Enterprise DLP（データ損失防止）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SaaS Security API（SaaSデータ保護）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IoT Security（IoTデバイス保護）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Browser Isolation（ブラウザ分離）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C2C2C"/>
                </a:solidFill>
              </a:rPr>
              <a:t>• Prisma SD-WAN 拠点追加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42432"/>
            <a:ext cx="11338560" cy="914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79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価格帯・契約条件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• ユーザー課金: 約 $10〜$25/ユーザー/月（プラン・ボリュームにより変動）
• 拠点課金: 帯域・ロケーション数に応じて追加課金
• 推奨契約: 3年（2年・1年も可）。複数年コミットで15〜30%割引
• 大規模: 5,000ユーザー以上の場合、年間契約額は7桁（百万ドル超）になることも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  Cortex XDR / XSIAM ライセンス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7772400" cy="43891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Cortex XDR  — エンドポイント保護 &amp; 拡張検出・対応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2487168" cy="475488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XDR Prevent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2487168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23042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次世代アンチウイルス (NGAV)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マルウェア・ランサムウェア遮断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エクスプロイト防止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ファイルレス攻撃対策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デバイス制御 / ディスク暗号化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課金: エンドポイント単位/年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536192"/>
            <a:ext cx="2487168" cy="475488"/>
          </a:xfrm>
          <a:prstGeom prst="rect">
            <a:avLst/>
          </a:prstGeom>
          <a:solidFill>
            <a:srgbClr val="006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572768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XDR Pro
per 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011680"/>
            <a:ext cx="2487168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00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103120"/>
            <a:ext cx="23042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Prevent の全機能を含む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EDR（エンドポイント検出・対応）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AIを活用した脅威ハンティング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アラート優先度付け・調査自動化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Cortex Data Lake 連携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課金: エンドポイント単位/年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536192"/>
            <a:ext cx="2487168" cy="475488"/>
          </a:xfrm>
          <a:prstGeom prst="rect">
            <a:avLst/>
          </a:prstGeom>
          <a:solidFill>
            <a:srgbClr val="00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1572768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XDR Pro
per GB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011680"/>
            <a:ext cx="2487168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00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103120"/>
            <a:ext cx="23042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Pro per Endpoint の全機能を含む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サードパーティログ取り込み対応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SIEM的なログ分析機能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ネットワーク・クラウドログ対応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課金: 取り込みデータ量 (GB)/日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C2C2C"/>
                </a:solidFill>
              </a:rPr>
              <a:t>• 大規模SOC環境に最適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051560"/>
            <a:ext cx="3474720" cy="438912"/>
          </a:xfrm>
          <a:prstGeom prst="rect">
            <a:avLst/>
          </a:prstGeom>
          <a:solidFill>
            <a:srgbClr val="682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078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Cortex XSIAM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508760"/>
            <a:ext cx="3474720" cy="4343400"/>
          </a:xfrm>
          <a:prstGeom prst="rect">
            <a:avLst/>
          </a:prstGeom>
          <a:solidFill>
            <a:srgbClr val="F2F2F2"/>
          </a:solidFill>
          <a:ln w="9525">
            <a:solidFill>
              <a:srgbClr val="682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AI駆動型の次世代SOCプラットフォーム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XDR + SIEM + SOAR + TIP + UEBA を統合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エンドポイント・ネットワーク・クラウド・SaaSのログを一元分析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機械学習による脅威自動トリアージ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XSOAR (SOAR) 機能を内包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課金: データ取り込み量 (GB) ベース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C2C2C"/>
                </a:solidFill>
              </a:rPr>
              <a:t>• 対象: 大規模エンタープライズSOC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33672"/>
            <a:ext cx="7772400" cy="2377440"/>
          </a:xfrm>
          <a:prstGeom prst="rect">
            <a:avLst/>
          </a:prstGeom>
          <a:solidFill>
            <a:srgbClr val="F8FFF0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64"/>
                </a:solidFill>
              </a:rPr>
              <a:t>Cortex Data 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• XDR / XSIAM のバックエンドストレージ（クラウド）
• ストレージ容量に応じた追加課金
• NGFWログ・エンドポイントログ・サードパーティログを集約
• デフォルト: 30日〜90日保持（プランにより異なる）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  AIOps / Strata Cloud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11338560" cy="59436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4400"/>
                </a:solidFill>
              </a:rPr>
              <a:t>⚠  2025年5月8日 AIOps for NGFW Premium ライセンス 販売終了（EOS）。既存顧客は「Strata Cloud Manager」ライセンスへ段階的に無償移行（2025年3月〜）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3657600" cy="5486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AIOps Free
→ SCM Essentials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3657600" cy="3063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デバイステレメトリ収集・分析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ベストプラクティス評価 (BPA)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セキュリティポスチャスコア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設定エラー検出・推奨アクション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無償（NGFWサポート契約に付帯）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19072"/>
            <a:ext cx="3657600" cy="5486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AIOps Premium
→ SCM Advanced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86000"/>
            <a:ext cx="3657600" cy="30632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Free/Essentials の全機能を含む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クラウド管理 for NGFW（Cloud Management）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自動設定プッシュ・コンプライアンス管理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AI駆動による予測的推奨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サブスクリプション別途購入（EOS: 2025/5/8）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719072"/>
            <a:ext cx="3657600" cy="54864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Strata Cloud
Manager (SCM)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2286000"/>
            <a:ext cx="3657600" cy="306324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AIOpsの後継統合管理プラットフォーム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PA/VM/CN Series + Prisma Access 統合管理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ゼロトラスト戦略の可視化・運用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AI推奨・自動化ワークフロー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C2C2C"/>
                </a:solidFill>
              </a:rPr>
              <a:t>• Essentials（無償）/ Advanced（有償）の2階層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440680"/>
            <a:ext cx="11338560" cy="12344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移行タイムライン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70448"/>
            <a:ext cx="1005840" cy="29260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795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2025年3月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9048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AIOps Free → SCM Essentials 自動移行開始（無償）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5870448"/>
            <a:ext cx="1005840" cy="29260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58795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2025年5月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619048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AIOps for NGFW Premium EOS（販売終了）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870448"/>
            <a:ext cx="1005840" cy="29260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8795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2025年〜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19048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既存 Premium ユーザーは契約終了まで利用継続可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5870448"/>
            <a:ext cx="1005840" cy="29260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58795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以降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619048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新規購入は Strata Cloud Manager Advanced で対応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9  GlobalProtect / SD-WAN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62356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GlobalProtect — リモートアクセス VPN / ZTNA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1783080" cy="5303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609344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ベース機能（無償）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03120"/>
            <a:ext cx="1783080" cy="2423160"/>
          </a:xfrm>
          <a:prstGeom prst="rect">
            <a:avLst/>
          </a:prstGeom>
          <a:solidFill>
            <a:srgbClr val="F2F2F2"/>
          </a:solidFill>
          <a:ln w="952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176272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• NGFWにバンドル
• IPSec/SSL VPN機能
• シンプルなリモートアクセス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5999" y="1572768"/>
            <a:ext cx="1783080" cy="5303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3" y="1609344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ゲートウェイライセンス
（有償・必須）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5999" y="2103120"/>
            <a:ext cx="1783080" cy="2423160"/>
          </a:xfrm>
          <a:prstGeom prst="rect">
            <a:avLst/>
          </a:prstGeom>
          <a:solidFill>
            <a:srgbClr val="F2F2F2"/>
          </a:solidFill>
          <a:ln w="952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1" y="2176272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• HIチェック（Host Information Profile）
• モバイルアプリ対応（iOS/Android）
• IPv6サポート
• GlobalProtect Gateway ごとに購入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18" y="1572768"/>
            <a:ext cx="1783080" cy="5303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2" y="1609344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ZTNA 2.0（Prisma Access）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18" y="2103120"/>
            <a:ext cx="1783080" cy="2423160"/>
          </a:xfrm>
          <a:prstGeom prst="rect">
            <a:avLst/>
          </a:prstGeom>
          <a:solidFill>
            <a:srgbClr val="F2F2F2"/>
          </a:solidFill>
          <a:ln w="952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3670" y="2176272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• クラウド型ゼロトラストNA
• Prisma Access ライセンスに内包
• SASE統合・App-ID/User-ID連携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51560"/>
            <a:ext cx="5577840" cy="457200"/>
          </a:xfrm>
          <a:prstGeom prst="rect">
            <a:avLst/>
          </a:prstGeom>
          <a:solidFill>
            <a:srgbClr val="682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78992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SD-WAN — ソフトウェア定義WAN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72768"/>
            <a:ext cx="1920240" cy="1463040"/>
          </a:xfrm>
          <a:prstGeom prst="rect">
            <a:avLst/>
          </a:prstGeom>
          <a:solidFill>
            <a:srgbClr val="682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664208"/>
            <a:ext cx="17922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Prisma SD-WAN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1572768"/>
            <a:ext cx="352044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682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645920"/>
            <a:ext cx="32918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• Palo Alto Networks クラウド型SD-WAN
• Prisma Accessと統合（SASE構成）
• 拠点数・帯域によるサブスクリプション
• AIOps for SD-WAN を内包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72968"/>
            <a:ext cx="1920240" cy="1463040"/>
          </a:xfrm>
          <a:prstGeom prst="rect">
            <a:avLst/>
          </a:prstGeom>
          <a:solidFill>
            <a:srgbClr val="682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3264408"/>
            <a:ext cx="17922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NGFW SD-WAN
アドオン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3172968"/>
            <a:ext cx="352044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682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246120"/>
            <a:ext cx="32918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• PAシリーズへのSD-WAN機能追加
• Enterprise Bundleに含まれる
• PAN-OSベースでNGFW一体化
• アプリベースのパス制御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46320"/>
            <a:ext cx="11338560" cy="182880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011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219E"/>
                </a:solidFill>
              </a:rPr>
              <a:t>ライセンス要件まとめ (GlobalProtect)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85232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• ゲートウェイ側に有償ライセンスが必要（ポータルは無償で構築可）
• HIPチェック・モバイルアプリを使う場合は必ずライセンス購入
• ライセンスは各Gateway（PA機）ごとに購入（ゲートウェイ数分必要）
• 更新: 年間 or 3年サブスクリプション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901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219E"/>
                </a:solidFill>
              </a:rPr>
              <a:t>ライセンス要件まとめ (SD-WAN)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85232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• NGFWアドオン版: Enterprise Bundleに含まれるため追加費用なし
• Prisma SD-WAN: 拠点数・帯域に応じた別途ライセンス
• SASE統合ならPrisma SD-WAN + Prisma Accessが推奨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サポートティア &amp; ライセンス更新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サポートティア比較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840480" cy="5029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Premium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3840480" cy="269748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3566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24x7x365 サポート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電話 &amp; Webケース作成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重大度1: 1時間以内初期応答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PAN-OS アップグレード / RMA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ハードウェア購入時に必須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サブスクリプションに付帯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463040"/>
            <a:ext cx="3840480" cy="50292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Platinum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984248"/>
            <a:ext cx="3840480" cy="269748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84831"/>
            <a:ext cx="3566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Premium の全機能を含む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担当 TAM（テクニカルアカウントマネージャ）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シニアエンジニア直接対応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重大度1: 30分以内応答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年間レビュー・設計支援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2C2C2C"/>
                </a:solidFill>
              </a:rPr>
              <a:t>• 大規模エンタープライズ向け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ライセンス更新サイクル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63040"/>
            <a:ext cx="1097280" cy="100584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190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1年契約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8048" y="1463040"/>
            <a:ext cx="2423160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FA5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554480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最も柔軟。年次見直し可
割引率は低め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606040"/>
            <a:ext cx="1097280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620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3年契約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2606040"/>
            <a:ext cx="2423160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2697480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推奨。15〜25%割引
コスト最適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749040"/>
            <a:ext cx="1097280" cy="10058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050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3749040"/>
            <a:ext cx="2423160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3840480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エンタープライズ包括契約
複数製品を一括契約
大幅割引（30〜60%）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773168"/>
            <a:ext cx="11338560" cy="1874519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64"/>
                </a:solidFill>
              </a:rPr>
              <a:t>ライセンス管理・更新ポイント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11064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Customer Support Portal (support.paloaltonetworks.com) でライセンス一元管理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有効期限60〜90日前に更新通知。期限切れ後は機能が停止（ライセンス認証必要）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デバイス証明書: 2026年2月以降、CDSS接続に必須（PA/VM/CN/Panorama）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Software NGFW Credits: Customer Support Portal からクレジット残高・消費状況を確認可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C2C2C"/>
                </a:solidFill>
              </a:rPr>
              <a:t>• Panorama: 台数分のデバイスライセンス + 管理ノードのサポート契約が必要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11  製品別ライセンス比較まとめ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249424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製品・サービス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051560"/>
            <a:ext cx="2523744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078992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ライセンス種別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051560"/>
            <a:ext cx="2249424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078992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課金モデル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051560"/>
            <a:ext cx="1426464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0789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契約期間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051560"/>
            <a:ext cx="3163824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07899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主な用途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90472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15179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PA-Series NGFW
（ハードウェア）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1490472"/>
            <a:ext cx="25237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9464" y="15179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本体 + サブスクリプション
+ サポート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490472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15179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アプライアンス
（年/3年サブスク）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490472"/>
            <a:ext cx="142646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5784" y="151790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490472"/>
            <a:ext cx="31638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151790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物理環境・オンプレミスFW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075688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210312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VM/CN-Series
（ソフトウェア）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075688"/>
            <a:ext cx="252374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9464" y="21031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Software NGFW Credits
（Flexクレジット）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2075688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9784" y="210312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クレジット消費
（vCPU基準）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2075688"/>
            <a:ext cx="142646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5784" y="210312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12ヶ月 or 36ヶ月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2075688"/>
            <a:ext cx="31638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78824" y="210312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仮想化・クラウド・コンテナ環境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660904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" y="2688336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CDSS
（各種セキュリティ）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2660904"/>
            <a:ext cx="25237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268833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ATP / WildFire / URL /
DNS / SaaS / IoT 個別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2660904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9784" y="2688336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デバイス単位
（年/3年サブスク）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2660904"/>
            <a:ext cx="142646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5784" y="2688336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2660904"/>
            <a:ext cx="31638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78824" y="268833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NGFW機能拡張・脅威対策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246120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" y="3273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Prisma Access
（SASE）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3246120"/>
            <a:ext cx="252374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327355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ベース / Advanced
Threat / アドオン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246120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9784" y="3273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ユーザー数 +
拠点数・帯域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3246120"/>
            <a:ext cx="142646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15784" y="327355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1年/2年/3年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3246120"/>
            <a:ext cx="31638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78824" y="327355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クラウド・モバイル・ゼロトラスト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831336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" y="385876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Cortex XDR
（EDR/XDR）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4600" y="3831336"/>
            <a:ext cx="25237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9464" y="38587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Prevent / Pro per EP
/ Pro per GB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3831336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9784" y="385876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エンドポイント数
or GB/日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20" y="3831336"/>
            <a:ext cx="142646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15784" y="385876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23960" y="3831336"/>
            <a:ext cx="31638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78824" y="3858768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エンドポイント保護・SOC分析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416552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444398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Cortex XSIAM
（AI-SOC）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4600" y="4416552"/>
            <a:ext cx="252374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9464" y="444398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統合SOCプラットフォーム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74920" y="4416552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9784" y="444398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データ取り込み量
（GB）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60920" y="4416552"/>
            <a:ext cx="142646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15784" y="444398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23960" y="4416552"/>
            <a:ext cx="31638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78824" y="444398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大規模SOC・SIEM代替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5001768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464" y="502920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GlobalProtect
（VPN/ZTNA）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14600" y="5001768"/>
            <a:ext cx="25237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9464" y="50292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Gatewayライセンス
（基本は無償込み）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74920" y="5001768"/>
            <a:ext cx="2249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29784" y="502920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ゲートウェイ単位
（年/3年サブスク）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60920" y="5001768"/>
            <a:ext cx="142646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15784" y="502920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23960" y="5001768"/>
            <a:ext cx="31638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78824" y="502920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リモートアクセス・ゼロトラスト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5586984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464" y="5614416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582F"/>
                </a:solidFill>
              </a:rPr>
              <a:t>Strata Cloud
Manager / AIOps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14600" y="5586984"/>
            <a:ext cx="252374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9464" y="561441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Essentials（無償）
/ Advanced（有償）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4920" y="5586984"/>
            <a:ext cx="22494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29784" y="5614416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管理対象デバイス数
or 包括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60920" y="5586984"/>
            <a:ext cx="142646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15784" y="5614416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1年 or 3年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23960" y="5586984"/>
            <a:ext cx="3163824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78824" y="561441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NGFW集中管理・AIポスチャ管理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6190488"/>
            <a:ext cx="1175004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623620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※ 価格は構成・ボリューム・契約期間・パートナー割引により大きく変動します。正確な見積りは Palo Alto Networks または認定パートナーにお問い合わせください。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54864"/>
          </a:xfrm>
          <a:prstGeom prst="rect">
            <a:avLst/>
          </a:prstGeom>
          <a:solidFill>
            <a:srgbClr val="FA5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Palo Alto Networks ライセンス体系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>
                <a:solidFill>
                  <a:srgbClr val="DDDDDD"/>
                </a:solidFill>
              </a:rPr>
              <a:t>✓  STRATA / Prisma SASE / Cortex の3本柱でポートフォリオを構成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DDDDDD"/>
                </a:solidFill>
              </a:rPr>
              <a:t>✓  NGFWは本体 + サブスクリプション（バンドルで割安）+ サポートの3層構造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DDDDDD"/>
                </a:solidFill>
              </a:rPr>
              <a:t>✓  VMシリーズはFlexクレジットで柔軟にリソース・機能を選択可能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DDDDDD"/>
                </a:solidFill>
              </a:rPr>
              <a:t>✓  SASEはPrisma Accessでユーザー・拠点課金（3年契約推奨）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DDDDDD"/>
                </a:solidFill>
              </a:rPr>
              <a:t>✓  AIOps Premium はEOS（2025年5月）→ Strata Cloud Manager へ移行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詳細はパートナー / Palo Alto Networks 営業担当まで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