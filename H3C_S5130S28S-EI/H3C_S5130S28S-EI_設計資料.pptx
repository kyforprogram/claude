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457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9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H3C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S5130S-28S-EI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84048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技術検討資料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2788920"/>
            <a:ext cx="7772400" cy="0"/>
          </a:xfrm>
          <a:prstGeom prst="line">
            <a:avLst/>
          </a:prstGeom>
          <a:noFill/>
          <a:ln w="19050">
            <a:solidFill>
              <a:srgbClr val="3A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Gigabit Access Switch  ｜  24GE + 4 × 10GE SFP+  ｜  IRF2 対応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8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社内技術検討用  ／  作成日: 2026年6月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　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75488" cy="1005840"/>
          </a:xfrm>
          <a:prstGeom prst="rect">
            <a:avLst/>
          </a:prstGeom>
          <a:solidFill>
            <a:srgbClr val="2B5DA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03327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製品概要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45389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S5130S-28S-EIのポジショニングと用途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206240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475488" cy="1005840"/>
          </a:xfrm>
          <a:prstGeom prst="rect">
            <a:avLst/>
          </a:prstGeom>
          <a:solidFill>
            <a:srgbClr val="2B5DA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60120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13248" y="103327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ハードウェア仕様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45389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ポート構成・処理能力・物理スペック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206240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94560"/>
            <a:ext cx="475488" cy="1005840"/>
          </a:xfrm>
          <a:prstGeom prst="rect">
            <a:avLst/>
          </a:prstGeom>
          <a:solidFill>
            <a:srgbClr val="2B5DA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94560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26771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ソフトウェア機能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268833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L2/L3機能・セキュリティ・QoS・管理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4206240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194560"/>
            <a:ext cx="475488" cy="1005840"/>
          </a:xfrm>
          <a:prstGeom prst="rect">
            <a:avLst/>
          </a:prstGeom>
          <a:solidFill>
            <a:srgbClr val="2B5DA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194560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13248" y="226771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主要機能詳細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268833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IRF2・SDN・セキュリティ・高可用性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4206240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29000"/>
            <a:ext cx="475488" cy="1005840"/>
          </a:xfrm>
          <a:prstGeom prst="rect">
            <a:avLst/>
          </a:prstGeom>
          <a:solidFill>
            <a:srgbClr val="2B5DA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429000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350215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パフォーマンス仕様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39227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MACテーブル・ACL・ルーティングエントリ数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429000"/>
            <a:ext cx="4206240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29000"/>
            <a:ext cx="475488" cy="1005840"/>
          </a:xfrm>
          <a:prstGeom prst="rect">
            <a:avLst/>
          </a:prstGeom>
          <a:solidFill>
            <a:srgbClr val="2B5DA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429000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13248" y="350215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検討ポイント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13248" y="39227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採用判断のためのチェックポイント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製品概要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1554480"/>
          </a:xfrm>
          <a:prstGeom prst="rect">
            <a:avLst/>
          </a:prstGeom>
          <a:solidFill>
            <a:srgbClr val="F0F4F8"/>
          </a:solidFill>
          <a:ln w="9525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製品ポジショニング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H3C S5130S-28S-EIは、</a:t>
            </a:r>
            <a:pPr indent="0" marL="0">
              <a:buNone/>
            </a:pPr>
            <a:r>
              <a:rPr lang="en-US" sz="1150" b="1" dirty="0">
                <a:solidFill>
                  <a:srgbClr val="2B5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中小企業・キャンパスネットワーク</a:t>
            </a:r>
            <a:pPr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向けの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ギガビットアクセススイッチ。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固定電源・L2スイッチとしてシンプルで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コスト効率が高く、導入が容易な構成。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577840" y="868680"/>
            <a:ext cx="3200400" cy="1554480"/>
          </a:xfrm>
          <a:prstGeom prst="rect">
            <a:avLst/>
          </a:prstGeom>
          <a:solidFill>
            <a:srgbClr val="D6E8F7"/>
          </a:solidFill>
          <a:ln w="15240">
            <a:solidFill>
              <a:srgbClr val="3A9BD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15000" y="914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モデル名解読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0" y="1298448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S5130S</a:t>
            </a:r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シリーズ名
</a:t>
            </a:r>
            <a:pPr indent="0" marL="0">
              <a:buNone/>
            </a:pPr>
            <a:r>
              <a:rPr lang="en-US" sz="1100" b="1" dirty="0">
                <a:solidFill>
                  <a:srgbClr val="2B5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合計ポート数
</a:t>
            </a:r>
            <a:pPr indent="0" marL="0">
              <a:buNone/>
            </a:pPr>
            <a:r>
              <a:rPr lang="en-US" sz="1100" b="1" dirty="0">
                <a:solidFill>
                  <a:srgbClr val="2B5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SFP+アップリンク搭載
</a:t>
            </a:r>
            <a:pPr indent="0" marL="0">
              <a:buNone/>
            </a:pPr>
            <a:r>
              <a:rPr lang="en-US" sz="1100" b="1" dirty="0">
                <a:solidFill>
                  <a:srgbClr val="2B5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</a:t>
            </a:r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Enhanced（拡張モデル）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011680" cy="11155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6334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9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4320" y="31821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3410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ポート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50592" y="2606040"/>
            <a:ext cx="2011680" cy="11155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50592" y="26334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9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× 10GE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50592" y="31821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50592" y="3410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SFP+ アップリンク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2606040"/>
            <a:ext cx="2011680" cy="11155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26864" y="26334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9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26864" y="31821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26864" y="3410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スイッチング容量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2606040"/>
            <a:ext cx="2011680" cy="11155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03136" y="26334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9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03136" y="31821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03136" y="3410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転送レート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8404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想定適用シナリオ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160520"/>
            <a:ext cx="201168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60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フロアアクセス集約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50592" y="4160520"/>
            <a:ext cx="201168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50592" y="4160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VMWare/Hyper-V エッジ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26864" y="4160520"/>
            <a:ext cx="201168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4160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キャンパスアクセス層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03136" y="4160520"/>
            <a:ext cx="201168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4160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小規模DCアクセス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ハードウェア仕様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2377440"/>
              </a:tblGrid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仕様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備考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10/100/1000BASE-T ポート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ポート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標準 RJ-45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SFP+ アップリンク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1G/10G BASE-X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SFP+ モジュール対応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ポートスイッチング容量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Gbps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ノンブロッキング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転送レート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Mpps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ワイヤースピード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システムスイッチング容量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 Gbps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Core, 800 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/ SDRAM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MB / 512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遅延（64B）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 &lt; 5 µs  /  10GE &lt; 3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筐体サイズ (W×D×H)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 × 160 × 43.6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1U ラックマウント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2.5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入力電圧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100〜240V AC, 50/60 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消費電力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最小 9W  /  最大 23W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PoEなし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冷却方式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ファンレス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静音環境に最適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動作温度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-5℃〜50℃（通常）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光モジュールにより変動あり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保存温度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-40℃〜70℃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131.97 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高信頼性設計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最大スタッキング数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IRF2 使用時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最大スタッキング帯域幅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Gbps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SFP+ 経由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ソフトウェア機能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60520" cy="365760"/>
          </a:xfrm>
          <a:prstGeom prst="rect">
            <a:avLst/>
          </a:prstGeom>
          <a:solidFill>
            <a:srgbClr val="2B5DA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スイッチング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43584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4094（Access/Trunk/Hybrid）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MSTP / RSTP / STP / PVST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LACP（リンクアグリゲーション）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LLDP / LLDP-MED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QinQ（802.1Q-in-Q）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S-MLAG（マルチシャーシ LAG）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04672"/>
            <a:ext cx="4160520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04672"/>
            <a:ext cx="4160520" cy="365760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ルーティング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73168" y="1243584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スタティックルーティング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 / RIPng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/ OSPFv3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/ IPv6 デュアルスタック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VRRP v2 / v3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BFD（双方向転送検出）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07792"/>
            <a:ext cx="4160520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07792"/>
            <a:ext cx="4160520" cy="36576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907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346704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/ MAC / ポータル認証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トリプル認証（同一ポート混在）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IPSG（IP ソースガード）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攻撃検出・レート制限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v2 / SSL / HTTPS / PKI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RBAC（ロールベースアクセス制御）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907792"/>
            <a:ext cx="4160520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07792"/>
            <a:ext cx="416052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907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管理・自動化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73168" y="3346704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SNMPv1/v2c/v3 / RMON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NETCONF/YANG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gRPC（テレメトリ）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Restful API / TCL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Touch Provisioning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/ SmartMC 対応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　主要機能詳細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01168" cy="1920240"/>
          </a:xfrm>
          <a:prstGeom prst="rect">
            <a:avLst/>
          </a:prstGeom>
          <a:solidFill>
            <a:srgbClr val="2B5DA0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8778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IRF2（スタッキング）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" y="126187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 9 台を 1 論理デバイスとして管理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スタッキング帯域幅: 80 Gbps（SFP+）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スタンバイ冗長による無停止フェイルオーバー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クロスデバイス LACP でリンク冗長と負荷分散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単一 IP 管理・設定の一元化が可能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0467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04672"/>
            <a:ext cx="201168" cy="1920240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10" name="Text 8"/>
          <p:cNvSpPr/>
          <p:nvPr/>
        </p:nvSpPr>
        <p:spPr>
          <a:xfrm>
            <a:off x="4974336" y="8778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対応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126187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 によるコントロール/転送分離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H3C SDN コントローラとの連携で2層アーキテクチャを実現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大規模ネットワークフローテーブル対応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NETCONF/YANG による構成自動化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テレメトリでリアルタイム状態収集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0779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07792"/>
            <a:ext cx="201168" cy="192024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" y="29809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セキュリティ機能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" y="336499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シングルポートマルチ認証（802.1X + MAC + Portal 混在）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EAD（端末検疫）による検査・隔離・修正フロー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10KV サージ保護（業界トップクラス）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 / MFF / IPv6 RA Guard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準拠・ARP スヌーピング・DHCP スヌーピング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0779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07792"/>
            <a:ext cx="201168" cy="1920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974336" y="29809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高可用性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74336" y="336499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 / STP / RSTP / MSTP / Smart Link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ERPS（G.8032 リング保護）/ RRPP 対応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VRRPv2/v3 + BFD によるゲートウェイ冗長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OAM (802.3ah) / CFD (802.1ag)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Link による障害連動切り替え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　パフォーマンス仕様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237744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パフォーマンス項目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アドレス テーブル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16K エントリ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テーブル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4,096（有効: 4,094）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インタフェース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 ルーティング エントリ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 ARP エントリ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 ACL エントリ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IPv6 ユニキャスト ルーティング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IPv6 ND エントリ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IPv6 ACL エントリ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マルチキャスト エントリ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QoS キュー / ポート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キュー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ジャンボ フレーム長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10,240 バイト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リンクアグリゲーション グループ数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 グループ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グループ内最大ポート数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ポート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006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上記エントリ数はソフトウェアテーブルの上限値。実際の運用では設計時に余裕を持たせること。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　検討ポイント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47472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採用を後押しするポイント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2743200"/>
          </a:xfrm>
          <a:prstGeom prst="rect">
            <a:avLst/>
          </a:prstGeom>
          <a:solidFill>
            <a:srgbClr val="E6F4E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GE + 4×10GE SFP+ でコストパフォーマンス良好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ファンレス設計で静音・省エネ（執務室・狭所設置可）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消費電力が低い（最大 23W）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IRF2 スタッキングで最大 9 台を1管理点に集約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/ VRRP / BFD 等 L3 機能を標準サポート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+ MAC + Portal のマルチ認証が同一ポートで動作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Touch Provisioning で展開を自動化可能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131.97 年の高信頼性設計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確認・注意が必要なポイント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2743200"/>
          </a:xfrm>
          <a:prstGeom prst="rect">
            <a:avLst/>
          </a:prstGeom>
          <a:solidFill>
            <a:srgbClr val="FEF3EA"/>
          </a:solidFill>
          <a:ln w="12700">
            <a:solidFill>
              <a:srgbClr val="F0C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 は非対応（PoE 版は 28S-PWR-EI/HPWR-EI を選択）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ルーティングエントリが 1,024 と少ない（大規模は注意）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インタフェース上限 32（多数 SVI が必要な場合は要確認）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固定電源（デュアル電源は 28F-EI 等別モデル）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H3C の国内サポート体制・SLA の事前確認が必要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コンソールケーブル（CAB-CON-1.8m）は別売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SFP+ケーブル/モジュールは別途型番選定が必要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4622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H3C 国内パートナー（エス・アンド・アイ等）へ見積依頼  ／  ② 実機 PoC の実施検討  ／  ③ サポート SLA・保守体制の確認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H3C S5130S-28S-EI 技術検討資料</dc:title>
  <dc:subject>PptxGenJS Presentation</dc:subject>
  <dc:creator>PptxGenJS</dc:creator>
  <cp:lastModifiedBy>PptxGenJS</cp:lastModifiedBy>
  <cp:revision>1</cp:revision>
  <dcterms:created xsi:type="dcterms:W3CDTF">2026-06-08T02:24:20Z</dcterms:created>
  <dcterms:modified xsi:type="dcterms:W3CDTF">2026-06-08T02:24:20Z</dcterms:modified>
</cp:coreProperties>
</file>