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F35"/>
          </a:solidFill>
          <a:ln/>
        </p:spPr>
      </p:sp>
      <p:sp>
        <p:nvSpPr>
          <p:cNvPr id="3" name="Shape 1"/>
          <p:cNvSpPr/>
          <p:nvPr/>
        </p:nvSpPr>
        <p:spPr>
          <a:xfrm>
            <a:off x="0" y="5303520"/>
            <a:ext cx="12192000" cy="109728"/>
          </a:xfrm>
          <a:prstGeom prst="rect">
            <a:avLst/>
          </a:prstGeom>
          <a:solidFill>
            <a:srgbClr val="2E86C1"/>
          </a:solidFill>
          <a:ln/>
        </p:spPr>
      </p:sp>
      <p:sp>
        <p:nvSpPr>
          <p:cNvPr id="4" name="Shape 2"/>
          <p:cNvSpPr/>
          <p:nvPr/>
        </p:nvSpPr>
        <p:spPr>
          <a:xfrm>
            <a:off x="0" y="0"/>
            <a:ext cx="12192000" cy="914400"/>
          </a:xfrm>
          <a:prstGeom prst="rect">
            <a:avLst/>
          </a:prstGeom>
          <a:solidFill>
            <a:srgbClr val="1E3A5F"/>
          </a:solidFill>
          <a:ln/>
        </p:spPr>
      </p:sp>
      <p:sp>
        <p:nvSpPr>
          <p:cNvPr id="5" name="Text 3"/>
          <p:cNvSpPr/>
          <p:nvPr/>
        </p:nvSpPr>
        <p:spPr>
          <a:xfrm>
            <a:off x="548640" y="91440"/>
            <a:ext cx="10972800" cy="731520"/>
          </a:xfrm>
          <a:prstGeom prst="rect">
            <a:avLst/>
          </a:prstGeom>
          <a:noFill/>
          <a:ln/>
        </p:spPr>
        <p:txBody>
          <a:bodyPr wrap="square" lIns="0" tIns="0" rIns="0" bIns="0" rtlCol="0" anchor="ctr"/>
          <a:lstStyle/>
          <a:p>
            <a:pPr algn="l" indent="0" marL="0">
              <a:buNone/>
            </a:pPr>
            <a:r>
              <a:rPr lang="en-US" sz="2200" b="1" dirty="0">
                <a:solidFill>
                  <a:srgbClr val="5DADE2"/>
                </a:solidFill>
                <a:latin typeface="Calibri" pitchFamily="34" charset="0"/>
                <a:ea typeface="Calibri" pitchFamily="34" charset="-122"/>
                <a:cs typeface="Calibri" pitchFamily="34" charset="-120"/>
              </a:rPr>
              <a:t>Cisco Smart Licensing</a:t>
            </a:r>
            <a:endParaRPr lang="en-US" sz="2200" dirty="0"/>
          </a:p>
        </p:txBody>
      </p:sp>
      <p:sp>
        <p:nvSpPr>
          <p:cNvPr id="6" name="Text 4"/>
          <p:cNvSpPr/>
          <p:nvPr/>
        </p:nvSpPr>
        <p:spPr>
          <a:xfrm>
            <a:off x="548640" y="1371600"/>
            <a:ext cx="10972800" cy="137160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スマートアカウント と バーチャルアカウント</a:t>
            </a:r>
            <a:endParaRPr lang="en-US" sz="4200" dirty="0"/>
          </a:p>
        </p:txBody>
      </p:sp>
      <p:sp>
        <p:nvSpPr>
          <p:cNvPr id="7" name="Text 5"/>
          <p:cNvSpPr/>
          <p:nvPr/>
        </p:nvSpPr>
        <p:spPr>
          <a:xfrm>
            <a:off x="548640" y="2926080"/>
            <a:ext cx="10972800" cy="640080"/>
          </a:xfrm>
          <a:prstGeom prst="rect">
            <a:avLst/>
          </a:prstGeom>
          <a:noFill/>
          <a:ln/>
        </p:spPr>
        <p:txBody>
          <a:bodyPr wrap="square" lIns="0" tIns="0" rIns="0" bIns="0" rtlCol="0" anchor="ctr"/>
          <a:lstStyle/>
          <a:p>
            <a:pPr algn="l" indent="0" marL="0">
              <a:buNone/>
            </a:pPr>
            <a:r>
              <a:rPr lang="en-US" sz="1800" dirty="0">
                <a:solidFill>
                  <a:srgbClr val="D6E4F0"/>
                </a:solidFill>
                <a:latin typeface="Calibri" pitchFamily="34" charset="0"/>
                <a:ea typeface="Calibri" pitchFamily="34" charset="-122"/>
                <a:cs typeface="Calibri" pitchFamily="34" charset="-120"/>
              </a:rPr>
              <a:t>ライセンス管理を支える「アカウント階層」のしくみを理解する</a:t>
            </a:r>
            <a:endParaRPr lang="en-US" sz="1800" dirty="0"/>
          </a:p>
        </p:txBody>
      </p:sp>
      <p:sp>
        <p:nvSpPr>
          <p:cNvPr id="8" name="Shape 6"/>
          <p:cNvSpPr/>
          <p:nvPr/>
        </p:nvSpPr>
        <p:spPr>
          <a:xfrm>
            <a:off x="548640" y="3840480"/>
            <a:ext cx="1920240" cy="502920"/>
          </a:xfrm>
          <a:prstGeom prst="roundRect">
            <a:avLst>
              <a:gd name="adj" fmla="val 9091"/>
            </a:avLst>
          </a:prstGeom>
          <a:solidFill>
            <a:srgbClr val="2E86C1"/>
          </a:solidFill>
          <a:ln w="12700">
            <a:solidFill>
              <a:srgbClr val="5DADE2"/>
            </a:solidFill>
            <a:prstDash val="solid"/>
          </a:ln>
        </p:spPr>
      </p:sp>
      <p:sp>
        <p:nvSpPr>
          <p:cNvPr id="9" name="Text 7"/>
          <p:cNvSpPr/>
          <p:nvPr/>
        </p:nvSpPr>
        <p:spPr>
          <a:xfrm>
            <a:off x="548640" y="38404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IT-VA</a:t>
            </a:r>
            <a:endParaRPr lang="en-US" sz="1400" dirty="0"/>
          </a:p>
        </p:txBody>
      </p:sp>
      <p:sp>
        <p:nvSpPr>
          <p:cNvPr id="10" name="Shape 8"/>
          <p:cNvSpPr/>
          <p:nvPr/>
        </p:nvSpPr>
        <p:spPr>
          <a:xfrm>
            <a:off x="2743200" y="3840480"/>
            <a:ext cx="1920240" cy="502920"/>
          </a:xfrm>
          <a:prstGeom prst="roundRect">
            <a:avLst>
              <a:gd name="adj" fmla="val 9091"/>
            </a:avLst>
          </a:prstGeom>
          <a:solidFill>
            <a:srgbClr val="2E86C1"/>
          </a:solidFill>
          <a:ln w="12700">
            <a:solidFill>
              <a:srgbClr val="5DADE2"/>
            </a:solidFill>
            <a:prstDash val="solid"/>
          </a:ln>
        </p:spPr>
      </p:sp>
      <p:sp>
        <p:nvSpPr>
          <p:cNvPr id="11" name="Text 9"/>
          <p:cNvSpPr/>
          <p:nvPr/>
        </p:nvSpPr>
        <p:spPr>
          <a:xfrm>
            <a:off x="2743200" y="38404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物流-VA</a:t>
            </a:r>
            <a:endParaRPr lang="en-US" sz="1400" dirty="0"/>
          </a:p>
        </p:txBody>
      </p:sp>
      <p:sp>
        <p:nvSpPr>
          <p:cNvPr id="12" name="Shape 10"/>
          <p:cNvSpPr/>
          <p:nvPr/>
        </p:nvSpPr>
        <p:spPr>
          <a:xfrm>
            <a:off x="4937760" y="3840480"/>
            <a:ext cx="1920240" cy="502920"/>
          </a:xfrm>
          <a:prstGeom prst="roundRect">
            <a:avLst>
              <a:gd name="adj" fmla="val 9091"/>
            </a:avLst>
          </a:prstGeom>
          <a:solidFill>
            <a:srgbClr val="2E86C1"/>
          </a:solidFill>
          <a:ln w="12700">
            <a:solidFill>
              <a:srgbClr val="5DADE2"/>
            </a:solidFill>
            <a:prstDash val="solid"/>
          </a:ln>
        </p:spPr>
      </p:sp>
      <p:sp>
        <p:nvSpPr>
          <p:cNvPr id="13" name="Text 11"/>
          <p:cNvSpPr/>
          <p:nvPr/>
        </p:nvSpPr>
        <p:spPr>
          <a:xfrm>
            <a:off x="4937760" y="38404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Lab-VA</a:t>
            </a:r>
            <a:endParaRPr lang="en-US" sz="1400" dirty="0"/>
          </a:p>
        </p:txBody>
      </p:sp>
      <p:sp>
        <p:nvSpPr>
          <p:cNvPr id="14" name="Text 12"/>
          <p:cNvSpPr/>
          <p:nvPr/>
        </p:nvSpPr>
        <p:spPr>
          <a:xfrm>
            <a:off x="548640" y="4480560"/>
            <a:ext cx="6400800" cy="365760"/>
          </a:xfrm>
          <a:prstGeom prst="rect">
            <a:avLst/>
          </a:prstGeom>
          <a:noFill/>
          <a:ln/>
        </p:spPr>
        <p:txBody>
          <a:bodyPr wrap="square" lIns="0" tIns="0" rIns="0" bIns="0" rtlCol="0" anchor="ctr"/>
          <a:lstStyle/>
          <a:p>
            <a:pPr algn="l" indent="0" marL="0">
              <a:buNone/>
            </a:pPr>
            <a:r>
              <a:rPr lang="en-US" sz="1300" dirty="0">
                <a:solidFill>
                  <a:srgbClr val="D6E4F0"/>
                </a:solidFill>
                <a:latin typeface="Calibri" pitchFamily="34" charset="0"/>
                <a:ea typeface="Calibri" pitchFamily="34" charset="-122"/>
                <a:cs typeface="Calibri" pitchFamily="34" charset="-120"/>
              </a:rPr>
              <a:t>ABC 社 Smart Account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全体像：SA と VA は「フォルダとサブフォルダ」</a:t>
            </a:r>
            <a:endParaRPr lang="en-US" sz="2600" dirty="0"/>
          </a:p>
        </p:txBody>
      </p:sp>
      <p:sp>
        <p:nvSpPr>
          <p:cNvPr id="6" name="Text 4"/>
          <p:cNvSpPr/>
          <p:nvPr/>
        </p:nvSpPr>
        <p:spPr>
          <a:xfrm>
            <a:off x="182880" y="1005840"/>
            <a:ext cx="11795760" cy="548640"/>
          </a:xfrm>
          <a:prstGeom prst="rect">
            <a:avLst/>
          </a:prstGeom>
          <a:noFill/>
          <a:ln/>
        </p:spPr>
        <p:txBody>
          <a:bodyPr wrap="square" lIns="0" tIns="0" rIns="0" bIns="0" rtlCol="0" anchor="ctr"/>
          <a:lstStyle/>
          <a:p>
            <a:pPr algn="l" indent="0" marL="0">
              <a:buNone/>
            </a:pPr>
            <a:r>
              <a:rPr lang="en-US" sz="1300" dirty="0">
                <a:solidFill>
                  <a:srgbClr val="4A6080"/>
                </a:solidFill>
                <a:latin typeface="Calibri" pitchFamily="34" charset="0"/>
                <a:ea typeface="Calibri" pitchFamily="34" charset="-122"/>
                <a:cs typeface="Calibri" pitchFamily="34" charset="-120"/>
              </a:rPr>
              <a:t>Smart Licensing はライセンスをクラウドで一元管理する仕組みです。その入れ物が SA（スマートアカウント）、中を区切る棚が VA（バーチャルアカウント）です。</a:t>
            </a:r>
            <a:endParaRPr lang="en-US" sz="1300" dirty="0"/>
          </a:p>
        </p:txBody>
      </p:sp>
      <p:sp>
        <p:nvSpPr>
          <p:cNvPr id="7" name="Shape 5"/>
          <p:cNvSpPr/>
          <p:nvPr/>
        </p:nvSpPr>
        <p:spPr>
          <a:xfrm>
            <a:off x="457200" y="1691640"/>
            <a:ext cx="11247120" cy="4389120"/>
          </a:xfrm>
          <a:prstGeom prst="roundRect">
            <a:avLst>
              <a:gd name="adj" fmla="val 2083"/>
            </a:avLst>
          </a:prstGeom>
          <a:solidFill>
            <a:srgbClr val="EBF5FB"/>
          </a:solidFill>
          <a:ln w="25400">
            <a:solidFill>
              <a:srgbClr val="1E3A5F"/>
            </a:solidFill>
            <a:prstDash val="solid"/>
          </a:ln>
        </p:spPr>
      </p:sp>
      <p:sp>
        <p:nvSpPr>
          <p:cNvPr id="8" name="Text 6"/>
          <p:cNvSpPr/>
          <p:nvPr/>
        </p:nvSpPr>
        <p:spPr>
          <a:xfrm>
            <a:off x="640080" y="1783080"/>
            <a:ext cx="10058400" cy="41148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Smart Account（SA）　＝　会社ごとの大きなフォルダ</a:t>
            </a:r>
            <a:endParaRPr lang="en-US" sz="1500" dirty="0"/>
          </a:p>
        </p:txBody>
      </p:sp>
      <p:sp>
        <p:nvSpPr>
          <p:cNvPr id="9" name="Shape 7"/>
          <p:cNvSpPr/>
          <p:nvPr/>
        </p:nvSpPr>
        <p:spPr>
          <a:xfrm>
            <a:off x="731520" y="2331720"/>
            <a:ext cx="3291840" cy="3383280"/>
          </a:xfrm>
          <a:prstGeom prst="roundRect">
            <a:avLst>
              <a:gd name="adj" fmla="val 2222"/>
            </a:avLst>
          </a:prstGeom>
          <a:solidFill>
            <a:srgbClr val="D6EAF8"/>
          </a:solidFill>
          <a:ln w="19050">
            <a:solidFill>
              <a:srgbClr val="2E86C1"/>
            </a:solidFill>
            <a:prstDash val="solid"/>
          </a:ln>
        </p:spPr>
      </p:sp>
      <p:sp>
        <p:nvSpPr>
          <p:cNvPr id="10" name="Text 8"/>
          <p:cNvSpPr/>
          <p:nvPr/>
        </p:nvSpPr>
        <p:spPr>
          <a:xfrm>
            <a:off x="822960" y="2468880"/>
            <a:ext cx="3108960" cy="9144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Virtual Account ①</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IT-VA</a:t>
            </a:r>
            <a:endParaRPr lang="en-US" sz="1300" dirty="0"/>
          </a:p>
        </p:txBody>
      </p:sp>
      <p:sp>
        <p:nvSpPr>
          <p:cNvPr id="11" name="Text 9"/>
          <p:cNvSpPr/>
          <p:nvPr/>
        </p:nvSpPr>
        <p:spPr>
          <a:xfrm>
            <a:off x="868680" y="3474720"/>
            <a:ext cx="3017520" cy="36576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ライセンス / 機器</a:t>
            </a:r>
            <a:endParaRPr lang="en-US" sz="1100" dirty="0"/>
          </a:p>
        </p:txBody>
      </p:sp>
      <p:sp>
        <p:nvSpPr>
          <p:cNvPr id="12" name="Shape 10"/>
          <p:cNvSpPr/>
          <p:nvPr/>
        </p:nvSpPr>
        <p:spPr>
          <a:xfrm>
            <a:off x="4343400" y="2331720"/>
            <a:ext cx="3291840" cy="3383280"/>
          </a:xfrm>
          <a:prstGeom prst="roundRect">
            <a:avLst>
              <a:gd name="adj" fmla="val 2222"/>
            </a:avLst>
          </a:prstGeom>
          <a:solidFill>
            <a:srgbClr val="D5F5E3"/>
          </a:solidFill>
          <a:ln w="19050">
            <a:solidFill>
              <a:srgbClr val="2E86C1"/>
            </a:solidFill>
            <a:prstDash val="solid"/>
          </a:ln>
        </p:spPr>
      </p:sp>
      <p:sp>
        <p:nvSpPr>
          <p:cNvPr id="13" name="Text 11"/>
          <p:cNvSpPr/>
          <p:nvPr/>
        </p:nvSpPr>
        <p:spPr>
          <a:xfrm>
            <a:off x="4434840" y="2468880"/>
            <a:ext cx="3108960" cy="9144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Virtual Account ②</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物流-VA</a:t>
            </a:r>
            <a:endParaRPr lang="en-US" sz="1300" dirty="0"/>
          </a:p>
        </p:txBody>
      </p:sp>
      <p:sp>
        <p:nvSpPr>
          <p:cNvPr id="14" name="Text 12"/>
          <p:cNvSpPr/>
          <p:nvPr/>
        </p:nvSpPr>
        <p:spPr>
          <a:xfrm>
            <a:off x="4480560" y="3474720"/>
            <a:ext cx="3017520" cy="36576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ライセンス / 機器</a:t>
            </a:r>
            <a:endParaRPr lang="en-US" sz="1100" dirty="0"/>
          </a:p>
        </p:txBody>
      </p:sp>
      <p:sp>
        <p:nvSpPr>
          <p:cNvPr id="15" name="Shape 13"/>
          <p:cNvSpPr/>
          <p:nvPr/>
        </p:nvSpPr>
        <p:spPr>
          <a:xfrm>
            <a:off x="7955280" y="2331720"/>
            <a:ext cx="3291840" cy="3383280"/>
          </a:xfrm>
          <a:prstGeom prst="roundRect">
            <a:avLst>
              <a:gd name="adj" fmla="val 2222"/>
            </a:avLst>
          </a:prstGeom>
          <a:solidFill>
            <a:srgbClr val="FEF9E7"/>
          </a:solidFill>
          <a:ln w="19050">
            <a:solidFill>
              <a:srgbClr val="2E86C1"/>
            </a:solidFill>
            <a:prstDash val="solid"/>
          </a:ln>
        </p:spPr>
      </p:sp>
      <p:sp>
        <p:nvSpPr>
          <p:cNvPr id="16" name="Text 14"/>
          <p:cNvSpPr/>
          <p:nvPr/>
        </p:nvSpPr>
        <p:spPr>
          <a:xfrm>
            <a:off x="8046720" y="2468880"/>
            <a:ext cx="3108960" cy="9144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Virtual Account ③</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Lab-VA</a:t>
            </a:r>
            <a:endParaRPr lang="en-US" sz="1300" dirty="0"/>
          </a:p>
        </p:txBody>
      </p:sp>
      <p:sp>
        <p:nvSpPr>
          <p:cNvPr id="17" name="Text 15"/>
          <p:cNvSpPr/>
          <p:nvPr/>
        </p:nvSpPr>
        <p:spPr>
          <a:xfrm>
            <a:off x="8092440" y="3474720"/>
            <a:ext cx="3017520" cy="36576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ライセンス / 機器</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SMART ACCOUNT</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スマートアカウント（SA）とは</a:t>
            </a:r>
            <a:endParaRPr lang="en-US" sz="2600" dirty="0"/>
          </a:p>
        </p:txBody>
      </p:sp>
      <p:sp>
        <p:nvSpPr>
          <p:cNvPr id="6" name="Text 4"/>
          <p:cNvSpPr/>
          <p:nvPr/>
        </p:nvSpPr>
        <p:spPr>
          <a:xfrm>
            <a:off x="182880" y="1005840"/>
            <a:ext cx="11795760" cy="411480"/>
          </a:xfrm>
          <a:prstGeom prst="rect">
            <a:avLst/>
          </a:prstGeom>
          <a:noFill/>
          <a:ln/>
        </p:spPr>
        <p:txBody>
          <a:bodyPr wrap="square" lIns="0" tIns="0" rIns="0" bIns="0" rtlCol="0" anchor="ctr"/>
          <a:lstStyle/>
          <a:p>
            <a:pPr algn="l" indent="0" marL="0">
              <a:buNone/>
            </a:pPr>
            <a:r>
              <a:rPr lang="en-US" sz="1400" dirty="0">
                <a:solidFill>
                  <a:srgbClr val="4A6080"/>
                </a:solidFill>
                <a:latin typeface="Calibri" pitchFamily="34" charset="0"/>
                <a:ea typeface="Calibri" pitchFamily="34" charset="-122"/>
                <a:cs typeface="Calibri" pitchFamily="34" charset="-120"/>
              </a:rPr>
              <a:t>会社・組織体ごとに 1 つ作る、ライセンス管理の親アカウント</a:t>
            </a:r>
            <a:endParaRPr lang="en-US" sz="1400" dirty="0"/>
          </a:p>
        </p:txBody>
      </p:sp>
      <p:sp>
        <p:nvSpPr>
          <p:cNvPr id="7" name="Shape 5"/>
          <p:cNvSpPr/>
          <p:nvPr/>
        </p:nvSpPr>
        <p:spPr>
          <a:xfrm>
            <a:off x="274320" y="1508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8" name="Text 6"/>
          <p:cNvSpPr/>
          <p:nvPr/>
        </p:nvSpPr>
        <p:spPr>
          <a:xfrm>
            <a:off x="274320" y="1581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868680" y="1600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会社ごとに 1 つ作成</a:t>
            </a:r>
            <a:endParaRPr lang="en-US" sz="1300" dirty="0"/>
          </a:p>
        </p:txBody>
      </p:sp>
      <p:sp>
        <p:nvSpPr>
          <p:cNvPr id="10" name="Text 8"/>
          <p:cNvSpPr/>
          <p:nvPr/>
        </p:nvSpPr>
        <p:spPr>
          <a:xfrm>
            <a:off x="868680" y="1892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エンドユーザは組織体で 1 つの SA を作成する。1 社で複数 SA を持つことも可能。</a:t>
            </a:r>
            <a:endParaRPr lang="en-US" sz="1100" dirty="0"/>
          </a:p>
        </p:txBody>
      </p:sp>
      <p:sp>
        <p:nvSpPr>
          <p:cNvPr id="11" name="Shape 9"/>
          <p:cNvSpPr/>
          <p:nvPr/>
        </p:nvSpPr>
        <p:spPr>
          <a:xfrm>
            <a:off x="6126480" y="1508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12" name="Text 10"/>
          <p:cNvSpPr/>
          <p:nvPr/>
        </p:nvSpPr>
        <p:spPr>
          <a:xfrm>
            <a:off x="6126480" y="1581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6720840" y="1600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ドメイン名を管理 ID に紐付け</a:t>
            </a:r>
            <a:endParaRPr lang="en-US" sz="1300" dirty="0"/>
          </a:p>
        </p:txBody>
      </p:sp>
      <p:sp>
        <p:nvSpPr>
          <p:cNvPr id="14" name="Text 12"/>
          <p:cNvSpPr/>
          <p:nvPr/>
        </p:nvSpPr>
        <p:spPr>
          <a:xfrm>
            <a:off x="6720840" y="1892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通常は SA 作成者のメールアドレスのドメイン名を、一意の管理 ID として割り当てる。</a:t>
            </a:r>
            <a:endParaRPr lang="en-US" sz="1100" dirty="0"/>
          </a:p>
        </p:txBody>
      </p:sp>
      <p:sp>
        <p:nvSpPr>
          <p:cNvPr id="15" name="Shape 13"/>
          <p:cNvSpPr/>
          <p:nvPr/>
        </p:nvSpPr>
        <p:spPr>
          <a:xfrm>
            <a:off x="274320" y="3794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16" name="Text 14"/>
          <p:cNvSpPr/>
          <p:nvPr/>
        </p:nvSpPr>
        <p:spPr>
          <a:xfrm>
            <a:off x="274320" y="3867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868680" y="3886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ライセンスの最終的な受け皿</a:t>
            </a:r>
            <a:endParaRPr lang="en-US" sz="1300" dirty="0"/>
          </a:p>
        </p:txBody>
      </p:sp>
      <p:sp>
        <p:nvSpPr>
          <p:cNvPr id="18" name="Text 16"/>
          <p:cNvSpPr/>
          <p:nvPr/>
        </p:nvSpPr>
        <p:spPr>
          <a:xfrm>
            <a:off x="868680" y="4178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購入したソフトウェアライセンスは、最終的にこの SA に割り当てられて利用される。</a:t>
            </a:r>
            <a:endParaRPr lang="en-US" sz="1100" dirty="0"/>
          </a:p>
        </p:txBody>
      </p:sp>
      <p:sp>
        <p:nvSpPr>
          <p:cNvPr id="19" name="Shape 17"/>
          <p:cNvSpPr/>
          <p:nvPr/>
        </p:nvSpPr>
        <p:spPr>
          <a:xfrm>
            <a:off x="6126480" y="3794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20" name="Text 18"/>
          <p:cNvSpPr/>
          <p:nvPr/>
        </p:nvSpPr>
        <p:spPr>
          <a:xfrm>
            <a:off x="6126480" y="3867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6720840" y="3886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SA 間のライセンス移動は不可</a:t>
            </a:r>
            <a:endParaRPr lang="en-US" sz="1300" dirty="0"/>
          </a:p>
        </p:txBody>
      </p:sp>
      <p:sp>
        <p:nvSpPr>
          <p:cNvPr id="22" name="Text 20"/>
          <p:cNvSpPr/>
          <p:nvPr/>
        </p:nvSpPr>
        <p:spPr>
          <a:xfrm>
            <a:off x="6720840" y="4178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統合・分離には Cisco サポートチームの承認と作業が必要。初期設計が重要になる。</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VIRTUAL ACCOUNT</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バーチャルアカウント（VA）とは</a:t>
            </a:r>
            <a:endParaRPr lang="en-US" sz="2600" dirty="0"/>
          </a:p>
        </p:txBody>
      </p:sp>
      <p:sp>
        <p:nvSpPr>
          <p:cNvPr id="6" name="Text 4"/>
          <p:cNvSpPr/>
          <p:nvPr/>
        </p:nvSpPr>
        <p:spPr>
          <a:xfrm>
            <a:off x="182880" y="1005840"/>
            <a:ext cx="11795760" cy="411480"/>
          </a:xfrm>
          <a:prstGeom prst="rect">
            <a:avLst/>
          </a:prstGeom>
          <a:noFill/>
          <a:ln/>
        </p:spPr>
        <p:txBody>
          <a:bodyPr wrap="square" lIns="0" tIns="0" rIns="0" bIns="0" rtlCol="0" anchor="ctr"/>
          <a:lstStyle/>
          <a:p>
            <a:pPr algn="l" indent="0" marL="0">
              <a:buNone/>
            </a:pPr>
            <a:r>
              <a:rPr lang="en-US" sz="1400" dirty="0">
                <a:solidFill>
                  <a:srgbClr val="4A6080"/>
                </a:solidFill>
                <a:latin typeface="Calibri" pitchFamily="34" charset="0"/>
                <a:ea typeface="Calibri" pitchFamily="34" charset="-122"/>
                <a:cs typeface="Calibri" pitchFamily="34" charset="-120"/>
              </a:rPr>
              <a:t>SA の中をさらに区分し、ライセンスを社内で整理する単位</a:t>
            </a:r>
            <a:endParaRPr lang="en-US" sz="1400" dirty="0"/>
          </a:p>
        </p:txBody>
      </p:sp>
      <p:sp>
        <p:nvSpPr>
          <p:cNvPr id="7" name="Shape 5"/>
          <p:cNvSpPr/>
          <p:nvPr/>
        </p:nvSpPr>
        <p:spPr>
          <a:xfrm>
            <a:off x="274320" y="1508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8" name="Text 6"/>
          <p:cNvSpPr/>
          <p:nvPr/>
        </p:nvSpPr>
        <p:spPr>
          <a:xfrm>
            <a:off x="274320" y="1581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868680" y="1600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SA のサブセット</a:t>
            </a:r>
            <a:endParaRPr lang="en-US" sz="1300" dirty="0"/>
          </a:p>
        </p:txBody>
      </p:sp>
      <p:sp>
        <p:nvSpPr>
          <p:cNvPr id="10" name="Text 8"/>
          <p:cNvSpPr/>
          <p:nvPr/>
        </p:nvSpPr>
        <p:spPr>
          <a:xfrm>
            <a:off x="868680" y="1892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SA を作成すると既定の VA が自動生成される。以降、必要に応じて追加していく。</a:t>
            </a:r>
            <a:endParaRPr lang="en-US" sz="1100" dirty="0"/>
          </a:p>
        </p:txBody>
      </p:sp>
      <p:sp>
        <p:nvSpPr>
          <p:cNvPr id="11" name="Shape 9"/>
          <p:cNvSpPr/>
          <p:nvPr/>
        </p:nvSpPr>
        <p:spPr>
          <a:xfrm>
            <a:off x="6126480" y="1508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12" name="Text 10"/>
          <p:cNvSpPr/>
          <p:nvPr/>
        </p:nvSpPr>
        <p:spPr>
          <a:xfrm>
            <a:off x="6126480" y="1581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6720840" y="1600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整理の単位</a:t>
            </a:r>
            <a:endParaRPr lang="en-US" sz="1300" dirty="0"/>
          </a:p>
        </p:txBody>
      </p:sp>
      <p:sp>
        <p:nvSpPr>
          <p:cNvPr id="14" name="Text 12"/>
          <p:cNvSpPr/>
          <p:nvPr/>
        </p:nvSpPr>
        <p:spPr>
          <a:xfrm>
            <a:off x="6720840" y="1892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部門・拠点・ネットワークなど、自社の運用に合わせて柔軟にライセンスを区分。</a:t>
            </a:r>
            <a:endParaRPr lang="en-US" sz="1100" dirty="0"/>
          </a:p>
        </p:txBody>
      </p:sp>
      <p:sp>
        <p:nvSpPr>
          <p:cNvPr id="15" name="Shape 13"/>
          <p:cNvSpPr/>
          <p:nvPr/>
        </p:nvSpPr>
        <p:spPr>
          <a:xfrm>
            <a:off x="274320" y="3794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16" name="Text 14"/>
          <p:cNvSpPr/>
          <p:nvPr/>
        </p:nvSpPr>
        <p:spPr>
          <a:xfrm>
            <a:off x="274320" y="3867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868680" y="3886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アクセス制御の単位</a:t>
            </a:r>
            <a:endParaRPr lang="en-US" sz="1300" dirty="0"/>
          </a:p>
        </p:txBody>
      </p:sp>
      <p:sp>
        <p:nvSpPr>
          <p:cNvPr id="18" name="Text 16"/>
          <p:cNvSpPr/>
          <p:nvPr/>
        </p:nvSpPr>
        <p:spPr>
          <a:xfrm>
            <a:off x="868680" y="4178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VA ユーザは、割り当てられた VA 内で自分のロールが許す操作しか実行できない。</a:t>
            </a:r>
            <a:endParaRPr lang="en-US" sz="1100" dirty="0"/>
          </a:p>
        </p:txBody>
      </p:sp>
      <p:sp>
        <p:nvSpPr>
          <p:cNvPr id="19" name="Shape 17"/>
          <p:cNvSpPr/>
          <p:nvPr/>
        </p:nvSpPr>
        <p:spPr>
          <a:xfrm>
            <a:off x="6126480" y="3794760"/>
            <a:ext cx="5623560" cy="2103120"/>
          </a:xfrm>
          <a:prstGeom prst="roundRect">
            <a:avLst>
              <a:gd name="adj" fmla="val 3043"/>
            </a:avLst>
          </a:prstGeom>
          <a:solidFill>
            <a:srgbClr val="F0F7FF"/>
          </a:solidFill>
          <a:ln w="12700">
            <a:solidFill>
              <a:srgbClr val="D6E4F0"/>
            </a:solidFill>
            <a:prstDash val="solid"/>
          </a:ln>
          <a:effectLst>
            <a:outerShdw sx="100000" sy="100000" kx="0" ky="0" algn="bl" rotWithShape="0" blurRad="38100" dist="25400" dir="2700000">
              <a:srgbClr val="999999">
                <a:alpha val="30000"/>
              </a:srgbClr>
            </a:outerShdw>
          </a:effectLst>
        </p:spPr>
      </p:sp>
      <p:sp>
        <p:nvSpPr>
          <p:cNvPr id="20" name="Text 18"/>
          <p:cNvSpPr/>
          <p:nvPr/>
        </p:nvSpPr>
        <p:spPr>
          <a:xfrm>
            <a:off x="6126480" y="3867912"/>
            <a:ext cx="64008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6720840" y="3886200"/>
            <a:ext cx="4937760" cy="320040"/>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ネスト（入れ子）可能</a:t>
            </a:r>
            <a:endParaRPr lang="en-US" sz="1300" dirty="0"/>
          </a:p>
        </p:txBody>
      </p:sp>
      <p:sp>
        <p:nvSpPr>
          <p:cNvPr id="22" name="Text 20"/>
          <p:cNvSpPr/>
          <p:nvPr/>
        </p:nvSpPr>
        <p:spPr>
          <a:xfrm>
            <a:off x="6720840" y="4178808"/>
            <a:ext cx="4937760" cy="160020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既存 VA の下にサブ VA を作成でき、最大 10 階層まで多段構成できる。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STRUCTURE</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SA と VA の階層イメージ</a:t>
            </a:r>
            <a:endParaRPr lang="en-US" sz="2600" dirty="0"/>
          </a:p>
        </p:txBody>
      </p:sp>
      <p:sp>
        <p:nvSpPr>
          <p:cNvPr id="6" name="Shape 4"/>
          <p:cNvSpPr/>
          <p:nvPr/>
        </p:nvSpPr>
        <p:spPr>
          <a:xfrm>
            <a:off x="365760" y="1005840"/>
            <a:ext cx="11430000" cy="5029200"/>
          </a:xfrm>
          <a:prstGeom prst="roundRect">
            <a:avLst>
              <a:gd name="adj" fmla="val 1818"/>
            </a:avLst>
          </a:prstGeom>
          <a:solidFill>
            <a:srgbClr val="EBF5FB"/>
          </a:solidFill>
          <a:ln w="25400">
            <a:solidFill>
              <a:srgbClr val="1E3A5F"/>
            </a:solidFill>
            <a:prstDash val="solid"/>
          </a:ln>
        </p:spPr>
      </p:sp>
      <p:sp>
        <p:nvSpPr>
          <p:cNvPr id="7" name="Text 5"/>
          <p:cNvSpPr/>
          <p:nvPr/>
        </p:nvSpPr>
        <p:spPr>
          <a:xfrm>
            <a:off x="548640" y="1097280"/>
            <a:ext cx="7315200" cy="365760"/>
          </a:xfrm>
          <a:prstGeom prst="rect">
            <a:avLst/>
          </a:prstGeom>
          <a:noFill/>
          <a:ln/>
        </p:spPr>
        <p:txBody>
          <a:bodyPr wrap="square" lIns="0" tIns="0" rIns="0" bIns="0"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ABC 社 Smart Account</a:t>
            </a:r>
            <a:endParaRPr lang="en-US" sz="1600" dirty="0"/>
          </a:p>
        </p:txBody>
      </p:sp>
      <p:sp>
        <p:nvSpPr>
          <p:cNvPr id="8" name="Shape 6"/>
          <p:cNvSpPr/>
          <p:nvPr/>
        </p:nvSpPr>
        <p:spPr>
          <a:xfrm>
            <a:off x="640080" y="1600200"/>
            <a:ext cx="3383280" cy="3017520"/>
          </a:xfrm>
          <a:prstGeom prst="roundRect">
            <a:avLst>
              <a:gd name="adj" fmla="val 2424"/>
            </a:avLst>
          </a:prstGeom>
          <a:solidFill>
            <a:srgbClr val="D6EAF8"/>
          </a:solidFill>
          <a:ln w="19050">
            <a:solidFill>
              <a:srgbClr val="2E86C1"/>
            </a:solidFill>
            <a:prstDash val="solid"/>
          </a:ln>
        </p:spPr>
      </p:sp>
      <p:sp>
        <p:nvSpPr>
          <p:cNvPr id="9" name="Text 7"/>
          <p:cNvSpPr/>
          <p:nvPr/>
        </p:nvSpPr>
        <p:spPr>
          <a:xfrm>
            <a:off x="731520" y="1691640"/>
            <a:ext cx="3200400" cy="411480"/>
          </a:xfrm>
          <a:prstGeom prst="rect">
            <a:avLst/>
          </a:prstGeom>
          <a:noFill/>
          <a:ln/>
        </p:spPr>
        <p:txBody>
          <a:bodyPr wrap="square" lIns="0" tIns="0" rIns="0" bIns="0" rtlCol="0" anchor="ctr"/>
          <a:lstStyle/>
          <a:p>
            <a:pPr algn="ctr" indent="0" marL="0">
              <a:buNone/>
            </a:pPr>
            <a:r>
              <a:rPr lang="en-US" sz="1500" b="1" dirty="0">
                <a:solidFill>
                  <a:srgbClr val="1E3A5F"/>
                </a:solidFill>
                <a:latin typeface="Calibri" pitchFamily="34" charset="0"/>
                <a:ea typeface="Calibri" pitchFamily="34" charset="-122"/>
                <a:cs typeface="Calibri" pitchFamily="34" charset="-120"/>
              </a:rPr>
              <a:t>IT-VA</a:t>
            </a:r>
            <a:endParaRPr lang="en-US" sz="1500" dirty="0"/>
          </a:p>
        </p:txBody>
      </p:sp>
      <p:sp>
        <p:nvSpPr>
          <p:cNvPr id="10" name="Text 8"/>
          <p:cNvSpPr/>
          <p:nvPr/>
        </p:nvSpPr>
        <p:spPr>
          <a:xfrm>
            <a:off x="777240" y="2194560"/>
            <a:ext cx="3108960" cy="64008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PI（機器インスタンス）</a:t>
            </a:r>
            <a:endParaRPr lang="en-US" sz="1100" dirty="0"/>
          </a:p>
        </p:txBody>
      </p:sp>
      <p:sp>
        <p:nvSpPr>
          <p:cNvPr id="11" name="Shape 9"/>
          <p:cNvSpPr/>
          <p:nvPr/>
        </p:nvSpPr>
        <p:spPr>
          <a:xfrm>
            <a:off x="4297680" y="1600200"/>
            <a:ext cx="3383280" cy="3017520"/>
          </a:xfrm>
          <a:prstGeom prst="roundRect">
            <a:avLst>
              <a:gd name="adj" fmla="val 2424"/>
            </a:avLst>
          </a:prstGeom>
          <a:solidFill>
            <a:srgbClr val="D5F5E3"/>
          </a:solidFill>
          <a:ln w="19050">
            <a:solidFill>
              <a:srgbClr val="2E86C1"/>
            </a:solidFill>
            <a:prstDash val="solid"/>
          </a:ln>
        </p:spPr>
      </p:sp>
      <p:sp>
        <p:nvSpPr>
          <p:cNvPr id="12" name="Text 10"/>
          <p:cNvSpPr/>
          <p:nvPr/>
        </p:nvSpPr>
        <p:spPr>
          <a:xfrm>
            <a:off x="4389120" y="1691640"/>
            <a:ext cx="3200400" cy="411480"/>
          </a:xfrm>
          <a:prstGeom prst="rect">
            <a:avLst/>
          </a:prstGeom>
          <a:noFill/>
          <a:ln/>
        </p:spPr>
        <p:txBody>
          <a:bodyPr wrap="square" lIns="0" tIns="0" rIns="0" bIns="0" rtlCol="0" anchor="ctr"/>
          <a:lstStyle/>
          <a:p>
            <a:pPr algn="ctr" indent="0" marL="0">
              <a:buNone/>
            </a:pPr>
            <a:r>
              <a:rPr lang="en-US" sz="1500" b="1" dirty="0">
                <a:solidFill>
                  <a:srgbClr val="1E3A5F"/>
                </a:solidFill>
                <a:latin typeface="Calibri" pitchFamily="34" charset="0"/>
                <a:ea typeface="Calibri" pitchFamily="34" charset="-122"/>
                <a:cs typeface="Calibri" pitchFamily="34" charset="-120"/>
              </a:rPr>
              <a:t>物流-VA</a:t>
            </a:r>
            <a:endParaRPr lang="en-US" sz="1500" dirty="0"/>
          </a:p>
        </p:txBody>
      </p:sp>
      <p:sp>
        <p:nvSpPr>
          <p:cNvPr id="13" name="Text 11"/>
          <p:cNvSpPr/>
          <p:nvPr/>
        </p:nvSpPr>
        <p:spPr>
          <a:xfrm>
            <a:off x="4434840" y="2194560"/>
            <a:ext cx="3108960" cy="64008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PI（機器インスタンス）</a:t>
            </a:r>
            <a:endParaRPr lang="en-US" sz="1100" dirty="0"/>
          </a:p>
        </p:txBody>
      </p:sp>
      <p:sp>
        <p:nvSpPr>
          <p:cNvPr id="14" name="Shape 12"/>
          <p:cNvSpPr/>
          <p:nvPr/>
        </p:nvSpPr>
        <p:spPr>
          <a:xfrm>
            <a:off x="7955280" y="1600200"/>
            <a:ext cx="3383280" cy="3017520"/>
          </a:xfrm>
          <a:prstGeom prst="roundRect">
            <a:avLst>
              <a:gd name="adj" fmla="val 2424"/>
            </a:avLst>
          </a:prstGeom>
          <a:solidFill>
            <a:srgbClr val="FEF9E7"/>
          </a:solidFill>
          <a:ln w="19050">
            <a:solidFill>
              <a:srgbClr val="2E86C1"/>
            </a:solidFill>
            <a:prstDash val="solid"/>
          </a:ln>
        </p:spPr>
      </p:sp>
      <p:sp>
        <p:nvSpPr>
          <p:cNvPr id="15" name="Text 13"/>
          <p:cNvSpPr/>
          <p:nvPr/>
        </p:nvSpPr>
        <p:spPr>
          <a:xfrm>
            <a:off x="8046720" y="1691640"/>
            <a:ext cx="3200400" cy="411480"/>
          </a:xfrm>
          <a:prstGeom prst="rect">
            <a:avLst/>
          </a:prstGeom>
          <a:noFill/>
          <a:ln/>
        </p:spPr>
        <p:txBody>
          <a:bodyPr wrap="square" lIns="0" tIns="0" rIns="0" bIns="0" rtlCol="0" anchor="ctr"/>
          <a:lstStyle/>
          <a:p>
            <a:pPr algn="ctr" indent="0" marL="0">
              <a:buNone/>
            </a:pPr>
            <a:r>
              <a:rPr lang="en-US" sz="1500" b="1" dirty="0">
                <a:solidFill>
                  <a:srgbClr val="1E3A5F"/>
                </a:solidFill>
                <a:latin typeface="Calibri" pitchFamily="34" charset="0"/>
                <a:ea typeface="Calibri" pitchFamily="34" charset="-122"/>
                <a:cs typeface="Calibri" pitchFamily="34" charset="-120"/>
              </a:rPr>
              <a:t>Lab-VA</a:t>
            </a:r>
            <a:endParaRPr lang="en-US" sz="1500" dirty="0"/>
          </a:p>
        </p:txBody>
      </p:sp>
      <p:sp>
        <p:nvSpPr>
          <p:cNvPr id="16" name="Text 14"/>
          <p:cNvSpPr/>
          <p:nvPr/>
        </p:nvSpPr>
        <p:spPr>
          <a:xfrm>
            <a:off x="8092440" y="2194560"/>
            <a:ext cx="3108960" cy="64008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ネスト VA（サブ）</a:t>
            </a:r>
            <a:endParaRPr lang="en-US" sz="1100" dirty="0"/>
          </a:p>
          <a:p>
            <a:pPr algn="ctr" indent="0" marL="0">
              <a:buNone/>
            </a:pPr>
            <a:r>
              <a:rPr lang="en-US" sz="1100" dirty="0">
                <a:solidFill>
                  <a:srgbClr val="4A6080"/>
                </a:solidFill>
                <a:latin typeface="Calibri" pitchFamily="34" charset="0"/>
                <a:ea typeface="Calibri" pitchFamily="34" charset="-122"/>
                <a:cs typeface="Calibri" pitchFamily="34" charset="-120"/>
              </a:rPr>
              <a:t>└ Sub-Lab-VA</a:t>
            </a:r>
            <a:endParaRPr lang="en-US" sz="1100" dirty="0"/>
          </a:p>
        </p:txBody>
      </p:sp>
      <p:sp>
        <p:nvSpPr>
          <p:cNvPr id="17" name="Shape 15"/>
          <p:cNvSpPr/>
          <p:nvPr/>
        </p:nvSpPr>
        <p:spPr>
          <a:xfrm>
            <a:off x="457200" y="4846320"/>
            <a:ext cx="11247120" cy="18288"/>
          </a:xfrm>
          <a:prstGeom prst="rect">
            <a:avLst/>
          </a:prstGeom>
          <a:solidFill>
            <a:srgbClr val="D6E4F0"/>
          </a:solidFill>
          <a:ln/>
        </p:spPr>
      </p:sp>
      <p:sp>
        <p:nvSpPr>
          <p:cNvPr id="18" name="Text 16"/>
          <p:cNvSpPr/>
          <p:nvPr/>
        </p:nvSpPr>
        <p:spPr>
          <a:xfrm>
            <a:off x="548640" y="4937760"/>
            <a:ext cx="5029200" cy="365760"/>
          </a:xfrm>
          <a:prstGeom prst="rect">
            <a:avLst/>
          </a:prstGeom>
          <a:noFill/>
          <a:ln/>
        </p:spPr>
        <p:txBody>
          <a:bodyPr wrap="square" lIns="0" tIns="0" rIns="0" bIns="0" rtlCol="0" anchor="ctr"/>
          <a:lstStyle/>
          <a:p>
            <a:pPr indent="0" marL="0">
              <a:buNone/>
            </a:pPr>
            <a:r>
              <a:rPr lang="en-US" sz="1200" b="1" dirty="0">
                <a:solidFill>
                  <a:srgbClr val="27AE60"/>
                </a:solidFill>
                <a:latin typeface="Calibri" pitchFamily="34" charset="0"/>
                <a:ea typeface="Calibri" pitchFamily="34" charset="-122"/>
                <a:cs typeface="Calibri" pitchFamily="34" charset="-120"/>
              </a:rPr>
              <a:t>VA 間 ライセンスの移動は ✅ 可能</a:t>
            </a:r>
            <a:endParaRPr lang="en-US" sz="1200" dirty="0"/>
          </a:p>
        </p:txBody>
      </p:sp>
      <p:sp>
        <p:nvSpPr>
          <p:cNvPr id="19" name="Text 17"/>
          <p:cNvSpPr/>
          <p:nvPr/>
        </p:nvSpPr>
        <p:spPr>
          <a:xfrm>
            <a:off x="5943600" y="4937760"/>
            <a:ext cx="5669280" cy="36576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SA 間 ライセンスの移動は ❌ 不可</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ROLES</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アカウント権限（ロール）一覧</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SA レベル 4 種・VA レベル 3 種。管理者→ユーザ→閲覧者の順で操作範囲が狭くなる</a:t>
            </a:r>
            <a:endParaRPr lang="en-US" sz="1200" dirty="0"/>
          </a:p>
        </p:txBody>
      </p:sp>
      <p:sp>
        <p:nvSpPr>
          <p:cNvPr id="7" name="Shape 5"/>
          <p:cNvSpPr/>
          <p:nvPr/>
        </p:nvSpPr>
        <p:spPr>
          <a:xfrm>
            <a:off x="228600" y="1371600"/>
            <a:ext cx="5577840" cy="5029200"/>
          </a:xfrm>
          <a:prstGeom prst="roundRect">
            <a:avLst>
              <a:gd name="adj" fmla="val 1455"/>
            </a:avLst>
          </a:prstGeom>
          <a:solidFill>
            <a:srgbClr val="EBF5FB"/>
          </a:solidFill>
          <a:ln w="19050">
            <a:solidFill>
              <a:srgbClr val="1E3A5F"/>
            </a:solidFill>
            <a:prstDash val="solid"/>
          </a:ln>
        </p:spPr>
      </p:sp>
      <p:sp>
        <p:nvSpPr>
          <p:cNvPr id="8" name="Text 6"/>
          <p:cNvSpPr/>
          <p:nvPr/>
        </p:nvSpPr>
        <p:spPr>
          <a:xfrm>
            <a:off x="365760" y="1444752"/>
            <a:ext cx="5303520" cy="34747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SA レベル ｜ SA 全体が対象</a:t>
            </a:r>
            <a:endParaRPr lang="en-US" sz="1300" dirty="0"/>
          </a:p>
        </p:txBody>
      </p:sp>
      <p:sp>
        <p:nvSpPr>
          <p:cNvPr id="9" name="Shape 7"/>
          <p:cNvSpPr/>
          <p:nvPr/>
        </p:nvSpPr>
        <p:spPr>
          <a:xfrm>
            <a:off x="320040" y="1874520"/>
            <a:ext cx="5349240" cy="1005840"/>
          </a:xfrm>
          <a:prstGeom prst="roundRect">
            <a:avLst>
              <a:gd name="adj" fmla="val 4545"/>
            </a:avLst>
          </a:prstGeom>
          <a:solidFill>
            <a:srgbClr val="FFFFFF"/>
          </a:solidFill>
          <a:ln w="12700">
            <a:solidFill>
              <a:srgbClr val="D6E4F0"/>
            </a:solidFill>
            <a:prstDash val="solid"/>
          </a:ln>
        </p:spPr>
      </p:sp>
      <p:sp>
        <p:nvSpPr>
          <p:cNvPr id="10" name="Text 8"/>
          <p:cNvSpPr/>
          <p:nvPr/>
        </p:nvSpPr>
        <p:spPr>
          <a:xfrm>
            <a:off x="457200" y="1901952"/>
            <a:ext cx="5120640" cy="320040"/>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SA Approver（承認者）</a:t>
            </a:r>
            <a:endParaRPr lang="en-US" sz="1100" dirty="0"/>
          </a:p>
        </p:txBody>
      </p:sp>
      <p:sp>
        <p:nvSpPr>
          <p:cNvPr id="11" name="Text 9"/>
          <p:cNvSpPr/>
          <p:nvPr/>
        </p:nvSpPr>
        <p:spPr>
          <a:xfrm>
            <a:off x="457200" y="2194560"/>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合意書の承認、プロパティ編集、ユーザ・ログの表示。ライセンス管理は不可。</a:t>
            </a:r>
            <a:endParaRPr lang="en-US" sz="1000" dirty="0"/>
          </a:p>
        </p:txBody>
      </p:sp>
      <p:sp>
        <p:nvSpPr>
          <p:cNvPr id="12" name="Shape 10"/>
          <p:cNvSpPr/>
          <p:nvPr/>
        </p:nvSpPr>
        <p:spPr>
          <a:xfrm>
            <a:off x="320040" y="2944368"/>
            <a:ext cx="5349240" cy="1005840"/>
          </a:xfrm>
          <a:prstGeom prst="roundRect">
            <a:avLst>
              <a:gd name="adj" fmla="val 4545"/>
            </a:avLst>
          </a:prstGeom>
          <a:solidFill>
            <a:srgbClr val="FFFFFF"/>
          </a:solidFill>
          <a:ln w="12700">
            <a:solidFill>
              <a:srgbClr val="D6E4F0"/>
            </a:solidFill>
            <a:prstDash val="solid"/>
          </a:ln>
        </p:spPr>
      </p:sp>
      <p:sp>
        <p:nvSpPr>
          <p:cNvPr id="13" name="Text 11"/>
          <p:cNvSpPr/>
          <p:nvPr/>
        </p:nvSpPr>
        <p:spPr>
          <a:xfrm>
            <a:off x="457200" y="2971800"/>
            <a:ext cx="5120640" cy="320040"/>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SA Administrator（管理者）</a:t>
            </a:r>
            <a:endParaRPr lang="en-US" sz="1100" dirty="0"/>
          </a:p>
        </p:txBody>
      </p:sp>
      <p:sp>
        <p:nvSpPr>
          <p:cNvPr id="14" name="Text 12"/>
          <p:cNvSpPr/>
          <p:nvPr/>
        </p:nvSpPr>
        <p:spPr>
          <a:xfrm>
            <a:off x="457200" y="3264408"/>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SA 全体をフル管理。プロパティ編集、ユーザ・VA の追加/編集/削除、合意書承認、全ライセンス管理。</a:t>
            </a:r>
            <a:endParaRPr lang="en-US" sz="1000" dirty="0"/>
          </a:p>
        </p:txBody>
      </p:sp>
      <p:sp>
        <p:nvSpPr>
          <p:cNvPr id="15" name="Shape 13"/>
          <p:cNvSpPr/>
          <p:nvPr/>
        </p:nvSpPr>
        <p:spPr>
          <a:xfrm>
            <a:off x="320040" y="4014216"/>
            <a:ext cx="5349240" cy="1005840"/>
          </a:xfrm>
          <a:prstGeom prst="roundRect">
            <a:avLst>
              <a:gd name="adj" fmla="val 4545"/>
            </a:avLst>
          </a:prstGeom>
          <a:solidFill>
            <a:srgbClr val="FFFFFF"/>
          </a:solidFill>
          <a:ln w="12700">
            <a:solidFill>
              <a:srgbClr val="D6E4F0"/>
            </a:solidFill>
            <a:prstDash val="solid"/>
          </a:ln>
        </p:spPr>
      </p:sp>
      <p:sp>
        <p:nvSpPr>
          <p:cNvPr id="16" name="Text 14"/>
          <p:cNvSpPr/>
          <p:nvPr/>
        </p:nvSpPr>
        <p:spPr>
          <a:xfrm>
            <a:off x="457200" y="4041648"/>
            <a:ext cx="5120640" cy="320040"/>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SA User（ユーザ）</a:t>
            </a:r>
            <a:endParaRPr lang="en-US" sz="1100" dirty="0"/>
          </a:p>
        </p:txBody>
      </p:sp>
      <p:sp>
        <p:nvSpPr>
          <p:cNvPr id="17" name="Text 15"/>
          <p:cNvSpPr/>
          <p:nvPr/>
        </p:nvSpPr>
        <p:spPr>
          <a:xfrm>
            <a:off x="457200" y="4334256"/>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全ての VA でライセンス管理を実行できる。</a:t>
            </a:r>
            <a:endParaRPr lang="en-US" sz="1000" dirty="0"/>
          </a:p>
        </p:txBody>
      </p:sp>
      <p:sp>
        <p:nvSpPr>
          <p:cNvPr id="18" name="Shape 16"/>
          <p:cNvSpPr/>
          <p:nvPr/>
        </p:nvSpPr>
        <p:spPr>
          <a:xfrm>
            <a:off x="320040" y="5084064"/>
            <a:ext cx="5349240" cy="1005840"/>
          </a:xfrm>
          <a:prstGeom prst="roundRect">
            <a:avLst>
              <a:gd name="adj" fmla="val 4545"/>
            </a:avLst>
          </a:prstGeom>
          <a:solidFill>
            <a:srgbClr val="FFFFFF"/>
          </a:solidFill>
          <a:ln w="12700">
            <a:solidFill>
              <a:srgbClr val="D6E4F0"/>
            </a:solidFill>
            <a:prstDash val="solid"/>
          </a:ln>
        </p:spPr>
      </p:sp>
      <p:sp>
        <p:nvSpPr>
          <p:cNvPr id="19" name="Text 17"/>
          <p:cNvSpPr/>
          <p:nvPr/>
        </p:nvSpPr>
        <p:spPr>
          <a:xfrm>
            <a:off x="457200" y="5111496"/>
            <a:ext cx="5120640" cy="320040"/>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SA Viewer（閲覧者）</a:t>
            </a:r>
            <a:endParaRPr lang="en-US" sz="1100" dirty="0"/>
          </a:p>
        </p:txBody>
      </p:sp>
      <p:sp>
        <p:nvSpPr>
          <p:cNvPr id="20" name="Text 18"/>
          <p:cNvSpPr/>
          <p:nvPr/>
        </p:nvSpPr>
        <p:spPr>
          <a:xfrm>
            <a:off x="457200" y="5404104"/>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全ての VA のライセンスを閲覧のみ。変更はできない。</a:t>
            </a:r>
            <a:endParaRPr lang="en-US" sz="1000" dirty="0"/>
          </a:p>
        </p:txBody>
      </p:sp>
      <p:sp>
        <p:nvSpPr>
          <p:cNvPr id="21" name="Shape 19"/>
          <p:cNvSpPr/>
          <p:nvPr/>
        </p:nvSpPr>
        <p:spPr>
          <a:xfrm>
            <a:off x="6035040" y="1371600"/>
            <a:ext cx="5577840" cy="5029200"/>
          </a:xfrm>
          <a:prstGeom prst="roundRect">
            <a:avLst>
              <a:gd name="adj" fmla="val 1455"/>
            </a:avLst>
          </a:prstGeom>
          <a:solidFill>
            <a:srgbClr val="E8F8F5"/>
          </a:solidFill>
          <a:ln w="19050">
            <a:solidFill>
              <a:srgbClr val="27AE60"/>
            </a:solidFill>
            <a:prstDash val="solid"/>
          </a:ln>
        </p:spPr>
      </p:sp>
      <p:sp>
        <p:nvSpPr>
          <p:cNvPr id="22" name="Text 20"/>
          <p:cNvSpPr/>
          <p:nvPr/>
        </p:nvSpPr>
        <p:spPr>
          <a:xfrm>
            <a:off x="6172200" y="1444752"/>
            <a:ext cx="5303520" cy="347472"/>
          </a:xfrm>
          <a:prstGeom prst="rect">
            <a:avLst/>
          </a:prstGeom>
          <a:noFill/>
          <a:ln/>
        </p:spPr>
        <p:txBody>
          <a:bodyPr wrap="square" lIns="0" tIns="0" rIns="0" bIns="0" rtlCol="0" anchor="ctr"/>
          <a:lstStyle/>
          <a:p>
            <a:pPr indent="0" marL="0">
              <a:buNone/>
            </a:pPr>
            <a:r>
              <a:rPr lang="en-US" sz="1300" b="1" dirty="0">
                <a:solidFill>
                  <a:srgbClr val="1A7A50"/>
                </a:solidFill>
                <a:latin typeface="Calibri" pitchFamily="34" charset="0"/>
                <a:ea typeface="Calibri" pitchFamily="34" charset="-122"/>
                <a:cs typeface="Calibri" pitchFamily="34" charset="-120"/>
              </a:rPr>
              <a:t>VA レベル ｜ 割り当て VA に限定</a:t>
            </a:r>
            <a:endParaRPr lang="en-US" sz="1300" dirty="0"/>
          </a:p>
        </p:txBody>
      </p:sp>
      <p:sp>
        <p:nvSpPr>
          <p:cNvPr id="23" name="Shape 21"/>
          <p:cNvSpPr/>
          <p:nvPr/>
        </p:nvSpPr>
        <p:spPr>
          <a:xfrm>
            <a:off x="6126480" y="1874520"/>
            <a:ext cx="5349240" cy="1005840"/>
          </a:xfrm>
          <a:prstGeom prst="roundRect">
            <a:avLst>
              <a:gd name="adj" fmla="val 4545"/>
            </a:avLst>
          </a:prstGeom>
          <a:solidFill>
            <a:srgbClr val="FFFFFF"/>
          </a:solidFill>
          <a:ln w="12700">
            <a:solidFill>
              <a:srgbClr val="D6E4F0"/>
            </a:solidFill>
            <a:prstDash val="solid"/>
          </a:ln>
        </p:spPr>
      </p:sp>
      <p:sp>
        <p:nvSpPr>
          <p:cNvPr id="24" name="Text 22"/>
          <p:cNvSpPr/>
          <p:nvPr/>
        </p:nvSpPr>
        <p:spPr>
          <a:xfrm>
            <a:off x="6263640" y="1901952"/>
            <a:ext cx="5120640" cy="320040"/>
          </a:xfrm>
          <a:prstGeom prst="rect">
            <a:avLst/>
          </a:prstGeom>
          <a:noFill/>
          <a:ln/>
        </p:spPr>
        <p:txBody>
          <a:bodyPr wrap="square" lIns="0" tIns="0" rIns="0" bIns="0" rtlCol="0" anchor="ctr"/>
          <a:lstStyle/>
          <a:p>
            <a:pPr indent="0" marL="0">
              <a:buNone/>
            </a:pPr>
            <a:r>
              <a:rPr lang="en-US" sz="1100" b="1" dirty="0">
                <a:solidFill>
                  <a:srgbClr val="1A7A50"/>
                </a:solidFill>
                <a:latin typeface="Calibri" pitchFamily="34" charset="0"/>
                <a:ea typeface="Calibri" pitchFamily="34" charset="-122"/>
                <a:cs typeface="Calibri" pitchFamily="34" charset="-120"/>
              </a:rPr>
              <a:t>VA Administrator（管理者）</a:t>
            </a:r>
            <a:endParaRPr lang="en-US" sz="1100" dirty="0"/>
          </a:p>
        </p:txBody>
      </p:sp>
      <p:sp>
        <p:nvSpPr>
          <p:cNvPr id="25" name="Text 23"/>
          <p:cNvSpPr/>
          <p:nvPr/>
        </p:nvSpPr>
        <p:spPr>
          <a:xfrm>
            <a:off x="6263640" y="2194560"/>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割り当て VA 内でライセンス管理に加え、ユーザの追加・編集が可能。</a:t>
            </a:r>
            <a:endParaRPr lang="en-US" sz="1000" dirty="0"/>
          </a:p>
        </p:txBody>
      </p:sp>
      <p:sp>
        <p:nvSpPr>
          <p:cNvPr id="26" name="Shape 24"/>
          <p:cNvSpPr/>
          <p:nvPr/>
        </p:nvSpPr>
        <p:spPr>
          <a:xfrm>
            <a:off x="6126480" y="2944368"/>
            <a:ext cx="5349240" cy="1005840"/>
          </a:xfrm>
          <a:prstGeom prst="roundRect">
            <a:avLst>
              <a:gd name="adj" fmla="val 4545"/>
            </a:avLst>
          </a:prstGeom>
          <a:solidFill>
            <a:srgbClr val="FFFFFF"/>
          </a:solidFill>
          <a:ln w="12700">
            <a:solidFill>
              <a:srgbClr val="D6E4F0"/>
            </a:solidFill>
            <a:prstDash val="solid"/>
          </a:ln>
        </p:spPr>
      </p:sp>
      <p:sp>
        <p:nvSpPr>
          <p:cNvPr id="27" name="Text 25"/>
          <p:cNvSpPr/>
          <p:nvPr/>
        </p:nvSpPr>
        <p:spPr>
          <a:xfrm>
            <a:off x="6263640" y="2971800"/>
            <a:ext cx="5120640" cy="320040"/>
          </a:xfrm>
          <a:prstGeom prst="rect">
            <a:avLst/>
          </a:prstGeom>
          <a:noFill/>
          <a:ln/>
        </p:spPr>
        <p:txBody>
          <a:bodyPr wrap="square" lIns="0" tIns="0" rIns="0" bIns="0" rtlCol="0" anchor="ctr"/>
          <a:lstStyle/>
          <a:p>
            <a:pPr indent="0" marL="0">
              <a:buNone/>
            </a:pPr>
            <a:r>
              <a:rPr lang="en-US" sz="1100" b="1" dirty="0">
                <a:solidFill>
                  <a:srgbClr val="1A7A50"/>
                </a:solidFill>
                <a:latin typeface="Calibri" pitchFamily="34" charset="0"/>
                <a:ea typeface="Calibri" pitchFamily="34" charset="-122"/>
                <a:cs typeface="Calibri" pitchFamily="34" charset="-120"/>
              </a:rPr>
              <a:t>VA User（ユーザ）</a:t>
            </a:r>
            <a:endParaRPr lang="en-US" sz="1100" dirty="0"/>
          </a:p>
        </p:txBody>
      </p:sp>
      <p:sp>
        <p:nvSpPr>
          <p:cNvPr id="28" name="Text 26"/>
          <p:cNvSpPr/>
          <p:nvPr/>
        </p:nvSpPr>
        <p:spPr>
          <a:xfrm>
            <a:off x="6263640" y="3264408"/>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割り当て VA 内のライセンス管理のみ。ユーザ追加や VA の追加/削除は不可。</a:t>
            </a:r>
            <a:endParaRPr lang="en-US" sz="1000" dirty="0"/>
          </a:p>
        </p:txBody>
      </p:sp>
      <p:sp>
        <p:nvSpPr>
          <p:cNvPr id="29" name="Shape 27"/>
          <p:cNvSpPr/>
          <p:nvPr/>
        </p:nvSpPr>
        <p:spPr>
          <a:xfrm>
            <a:off x="6126480" y="4014216"/>
            <a:ext cx="5349240" cy="1005840"/>
          </a:xfrm>
          <a:prstGeom prst="roundRect">
            <a:avLst>
              <a:gd name="adj" fmla="val 4545"/>
            </a:avLst>
          </a:prstGeom>
          <a:solidFill>
            <a:srgbClr val="FFFFFF"/>
          </a:solidFill>
          <a:ln w="12700">
            <a:solidFill>
              <a:srgbClr val="D6E4F0"/>
            </a:solidFill>
            <a:prstDash val="solid"/>
          </a:ln>
        </p:spPr>
      </p:sp>
      <p:sp>
        <p:nvSpPr>
          <p:cNvPr id="30" name="Text 28"/>
          <p:cNvSpPr/>
          <p:nvPr/>
        </p:nvSpPr>
        <p:spPr>
          <a:xfrm>
            <a:off x="6263640" y="4041648"/>
            <a:ext cx="5120640" cy="320040"/>
          </a:xfrm>
          <a:prstGeom prst="rect">
            <a:avLst/>
          </a:prstGeom>
          <a:noFill/>
          <a:ln/>
        </p:spPr>
        <p:txBody>
          <a:bodyPr wrap="square" lIns="0" tIns="0" rIns="0" bIns="0" rtlCol="0" anchor="ctr"/>
          <a:lstStyle/>
          <a:p>
            <a:pPr indent="0" marL="0">
              <a:buNone/>
            </a:pPr>
            <a:r>
              <a:rPr lang="en-US" sz="1100" b="1" dirty="0">
                <a:solidFill>
                  <a:srgbClr val="1A7A50"/>
                </a:solidFill>
                <a:latin typeface="Calibri" pitchFamily="34" charset="0"/>
                <a:ea typeface="Calibri" pitchFamily="34" charset="-122"/>
                <a:cs typeface="Calibri" pitchFamily="34" charset="-120"/>
              </a:rPr>
              <a:t>VA Viewer（閲覧者）</a:t>
            </a:r>
            <a:endParaRPr lang="en-US" sz="1100" dirty="0"/>
          </a:p>
        </p:txBody>
      </p:sp>
      <p:sp>
        <p:nvSpPr>
          <p:cNvPr id="31" name="Text 29"/>
          <p:cNvSpPr/>
          <p:nvPr/>
        </p:nvSpPr>
        <p:spPr>
          <a:xfrm>
            <a:off x="6263640" y="4334256"/>
            <a:ext cx="5120640" cy="640080"/>
          </a:xfrm>
          <a:prstGeom prst="rect">
            <a:avLst/>
          </a:prstGeom>
          <a:noFill/>
          <a:ln/>
        </p:spPr>
        <p:txBody>
          <a:bodyPr wrap="square" lIns="0" tIns="0" rIns="0" bIns="0" rtlCol="0" anchor="ctr"/>
          <a:lstStyle/>
          <a:p>
            <a:pPr indent="0" marL="0">
              <a:buNone/>
            </a:pPr>
            <a:r>
              <a:rPr lang="en-US" sz="1000" dirty="0">
                <a:solidFill>
                  <a:srgbClr val="4A6080"/>
                </a:solidFill>
                <a:latin typeface="Calibri" pitchFamily="34" charset="0"/>
                <a:ea typeface="Calibri" pitchFamily="34" charset="-122"/>
                <a:cs typeface="Calibri" pitchFamily="34" charset="-120"/>
              </a:rPr>
              <a:t>割り当て VA のライセンスを閲覧のみ。変更はできない。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PROVISIONING</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機器へのライセンス投入：基本の流れ</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トークンは VA 単位で発行する。だから投入先の VA がそのまま消費元になる</a:t>
            </a:r>
            <a:endParaRPr lang="en-US" sz="1200" dirty="0"/>
          </a:p>
        </p:txBody>
      </p:sp>
      <p:sp>
        <p:nvSpPr>
          <p:cNvPr id="7" name="Shape 5"/>
          <p:cNvSpPr/>
          <p:nvPr/>
        </p:nvSpPr>
        <p:spPr>
          <a:xfrm>
            <a:off x="274320" y="1417320"/>
            <a:ext cx="3703320" cy="3474720"/>
          </a:xfrm>
          <a:prstGeom prst="roundRect">
            <a:avLst>
              <a:gd name="adj" fmla="val 2632"/>
            </a:avLst>
          </a:prstGeom>
          <a:solidFill>
            <a:srgbClr val="F0F7FF"/>
          </a:solidFill>
          <a:ln w="19050">
            <a:solidFill>
              <a:srgbClr val="2E86C1"/>
            </a:solidFill>
            <a:prstDash val="solid"/>
          </a:ln>
        </p:spPr>
      </p:sp>
      <p:sp>
        <p:nvSpPr>
          <p:cNvPr id="8" name="Shape 6"/>
          <p:cNvSpPr/>
          <p:nvPr/>
        </p:nvSpPr>
        <p:spPr>
          <a:xfrm>
            <a:off x="411480" y="1508760"/>
            <a:ext cx="640080" cy="640080"/>
          </a:xfrm>
          <a:prstGeom prst="ellipse">
            <a:avLst/>
          </a:prstGeom>
          <a:solidFill>
            <a:srgbClr val="2E86C1"/>
          </a:solidFill>
          <a:ln/>
        </p:spPr>
      </p:sp>
      <p:sp>
        <p:nvSpPr>
          <p:cNvPr id="9" name="Text 7"/>
          <p:cNvSpPr/>
          <p:nvPr/>
        </p:nvSpPr>
        <p:spPr>
          <a:xfrm>
            <a:off x="411480"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365760" y="2286000"/>
            <a:ext cx="3520440" cy="4572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VA でライセンスを確認</a:t>
            </a:r>
            <a:endParaRPr lang="en-US" sz="1300" dirty="0"/>
          </a:p>
        </p:txBody>
      </p:sp>
      <p:sp>
        <p:nvSpPr>
          <p:cNvPr id="11" name="Text 9"/>
          <p:cNvSpPr/>
          <p:nvPr/>
        </p:nvSpPr>
        <p:spPr>
          <a:xfrm>
            <a:off x="365760" y="2834640"/>
            <a:ext cx="3520440" cy="192024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対象 VA に必要数のライセンスが振り込まれているかをインベントリで確認する。</a:t>
            </a:r>
            <a:endParaRPr lang="en-US" sz="1100" dirty="0"/>
          </a:p>
        </p:txBody>
      </p:sp>
      <p:sp>
        <p:nvSpPr>
          <p:cNvPr id="12" name="Text 10"/>
          <p:cNvSpPr/>
          <p:nvPr/>
        </p:nvSpPr>
        <p:spPr>
          <a:xfrm>
            <a:off x="3977640" y="2697480"/>
            <a:ext cx="182880" cy="457200"/>
          </a:xfrm>
          <a:prstGeom prst="rect">
            <a:avLst/>
          </a:prstGeom>
          <a:noFill/>
          <a:ln/>
        </p:spPr>
        <p:txBody>
          <a:bodyPr wrap="square" lIns="0" tIns="0" rIns="0" bIns="0" rtlCol="0" anchor="ctr"/>
          <a:lstStyle/>
          <a:p>
            <a:pPr indent="0" marL="0">
              <a:buNone/>
            </a:pPr>
            <a:r>
              <a:rPr lang="en-US" sz="1600" dirty="0">
                <a:solidFill>
                  <a:srgbClr val="2E86C1"/>
                </a:solidFill>
              </a:rPr>
              <a:t>▶</a:t>
            </a:r>
            <a:endParaRPr lang="en-US" sz="1600" dirty="0"/>
          </a:p>
        </p:txBody>
      </p:sp>
      <p:sp>
        <p:nvSpPr>
          <p:cNvPr id="13" name="Shape 11"/>
          <p:cNvSpPr/>
          <p:nvPr/>
        </p:nvSpPr>
        <p:spPr>
          <a:xfrm>
            <a:off x="4160520" y="1417320"/>
            <a:ext cx="3703320" cy="3474720"/>
          </a:xfrm>
          <a:prstGeom prst="roundRect">
            <a:avLst>
              <a:gd name="adj" fmla="val 2632"/>
            </a:avLst>
          </a:prstGeom>
          <a:solidFill>
            <a:srgbClr val="F0F7FF"/>
          </a:solidFill>
          <a:ln w="19050">
            <a:solidFill>
              <a:srgbClr val="2E86C1"/>
            </a:solidFill>
            <a:prstDash val="solid"/>
          </a:ln>
        </p:spPr>
      </p:sp>
      <p:sp>
        <p:nvSpPr>
          <p:cNvPr id="14" name="Shape 12"/>
          <p:cNvSpPr/>
          <p:nvPr/>
        </p:nvSpPr>
        <p:spPr>
          <a:xfrm>
            <a:off x="4297680" y="1508760"/>
            <a:ext cx="640080" cy="640080"/>
          </a:xfrm>
          <a:prstGeom prst="ellipse">
            <a:avLst/>
          </a:prstGeom>
          <a:solidFill>
            <a:srgbClr val="2E86C1"/>
          </a:solidFill>
          <a:ln/>
        </p:spPr>
      </p:sp>
      <p:sp>
        <p:nvSpPr>
          <p:cNvPr id="15" name="Text 13"/>
          <p:cNvSpPr/>
          <p:nvPr/>
        </p:nvSpPr>
        <p:spPr>
          <a:xfrm>
            <a:off x="4297680"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4251960" y="2286000"/>
            <a:ext cx="3520440" cy="4572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登録トークンを発行</a:t>
            </a:r>
            <a:endParaRPr lang="en-US" sz="1300" dirty="0"/>
          </a:p>
        </p:txBody>
      </p:sp>
      <p:sp>
        <p:nvSpPr>
          <p:cNvPr id="17" name="Text 15"/>
          <p:cNvSpPr/>
          <p:nvPr/>
        </p:nvSpPr>
        <p:spPr>
          <a:xfrm>
            <a:off x="4251960" y="2834640"/>
            <a:ext cx="3520440" cy="192024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CSSM のインベントリ→対象 VA→[全般]→「新しいトークン」で発行し、コピーする。</a:t>
            </a:r>
            <a:endParaRPr lang="en-US" sz="1100" dirty="0"/>
          </a:p>
        </p:txBody>
      </p:sp>
      <p:sp>
        <p:nvSpPr>
          <p:cNvPr id="18" name="Text 16"/>
          <p:cNvSpPr/>
          <p:nvPr/>
        </p:nvSpPr>
        <p:spPr>
          <a:xfrm>
            <a:off x="7863840" y="2697480"/>
            <a:ext cx="182880" cy="457200"/>
          </a:xfrm>
          <a:prstGeom prst="rect">
            <a:avLst/>
          </a:prstGeom>
          <a:noFill/>
          <a:ln/>
        </p:spPr>
        <p:txBody>
          <a:bodyPr wrap="square" lIns="0" tIns="0" rIns="0" bIns="0" rtlCol="0" anchor="ctr"/>
          <a:lstStyle/>
          <a:p>
            <a:pPr indent="0" marL="0">
              <a:buNone/>
            </a:pPr>
            <a:r>
              <a:rPr lang="en-US" sz="1600" dirty="0">
                <a:solidFill>
                  <a:srgbClr val="2E86C1"/>
                </a:solidFill>
              </a:rPr>
              <a:t>▶</a:t>
            </a:r>
            <a:endParaRPr lang="en-US" sz="1600" dirty="0"/>
          </a:p>
        </p:txBody>
      </p:sp>
      <p:sp>
        <p:nvSpPr>
          <p:cNvPr id="19" name="Shape 17"/>
          <p:cNvSpPr/>
          <p:nvPr/>
        </p:nvSpPr>
        <p:spPr>
          <a:xfrm>
            <a:off x="8046720" y="1417320"/>
            <a:ext cx="3703320" cy="3474720"/>
          </a:xfrm>
          <a:prstGeom prst="roundRect">
            <a:avLst>
              <a:gd name="adj" fmla="val 2632"/>
            </a:avLst>
          </a:prstGeom>
          <a:solidFill>
            <a:srgbClr val="EAF7EA"/>
          </a:solidFill>
          <a:ln w="19050">
            <a:solidFill>
              <a:srgbClr val="2E86C1"/>
            </a:solidFill>
            <a:prstDash val="solid"/>
          </a:ln>
        </p:spPr>
      </p:sp>
      <p:sp>
        <p:nvSpPr>
          <p:cNvPr id="20" name="Shape 18"/>
          <p:cNvSpPr/>
          <p:nvPr/>
        </p:nvSpPr>
        <p:spPr>
          <a:xfrm>
            <a:off x="8183880" y="1508760"/>
            <a:ext cx="640080" cy="640080"/>
          </a:xfrm>
          <a:prstGeom prst="ellipse">
            <a:avLst/>
          </a:prstGeom>
          <a:solidFill>
            <a:srgbClr val="2E86C1"/>
          </a:solidFill>
          <a:ln/>
        </p:spPr>
      </p:sp>
      <p:sp>
        <p:nvSpPr>
          <p:cNvPr id="21" name="Text 19"/>
          <p:cNvSpPr/>
          <p:nvPr/>
        </p:nvSpPr>
        <p:spPr>
          <a:xfrm>
            <a:off x="8183880"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8138160" y="2286000"/>
            <a:ext cx="3520440" cy="4572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機器に投入・疎通</a:t>
            </a:r>
            <a:endParaRPr lang="en-US" sz="1300" dirty="0"/>
          </a:p>
        </p:txBody>
      </p:sp>
      <p:sp>
        <p:nvSpPr>
          <p:cNvPr id="23" name="Text 21"/>
          <p:cNvSpPr/>
          <p:nvPr/>
        </p:nvSpPr>
        <p:spPr>
          <a:xfrm>
            <a:off x="8138160" y="2834640"/>
            <a:ext cx="3520440" cy="1920240"/>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転送方式を設定し、機器にトークンを投入。CSSM と疎通してレポートが上がる。</a:t>
            </a:r>
            <a:endParaRPr lang="en-US" sz="1100" dirty="0"/>
          </a:p>
        </p:txBody>
      </p:sp>
      <p:sp>
        <p:nvSpPr>
          <p:cNvPr id="24" name="Shape 22"/>
          <p:cNvSpPr/>
          <p:nvPr/>
        </p:nvSpPr>
        <p:spPr>
          <a:xfrm>
            <a:off x="274320" y="4937760"/>
            <a:ext cx="11521440" cy="1463040"/>
          </a:xfrm>
          <a:prstGeom prst="roundRect">
            <a:avLst>
              <a:gd name="adj" fmla="val 4375"/>
            </a:avLst>
          </a:prstGeom>
          <a:solidFill>
            <a:srgbClr val="1C1C2E"/>
          </a:solidFill>
          <a:ln w="12700">
            <a:solidFill>
              <a:srgbClr val="5DADE2"/>
            </a:solidFill>
            <a:prstDash val="solid"/>
          </a:ln>
        </p:spPr>
      </p:sp>
      <p:sp>
        <p:nvSpPr>
          <p:cNvPr id="25" name="Text 23"/>
          <p:cNvSpPr/>
          <p:nvPr/>
        </p:nvSpPr>
        <p:spPr>
          <a:xfrm>
            <a:off x="457200" y="5029200"/>
            <a:ext cx="4572000" cy="320040"/>
          </a:xfrm>
          <a:prstGeom prst="rect">
            <a:avLst/>
          </a:prstGeom>
          <a:noFill/>
          <a:ln/>
        </p:spPr>
        <p:txBody>
          <a:bodyPr wrap="square" lIns="0" tIns="0" rIns="0" bIns="0" rtlCol="0" anchor="ctr"/>
          <a:lstStyle/>
          <a:p>
            <a:pPr indent="0" marL="0">
              <a:buNone/>
            </a:pPr>
            <a:r>
              <a:rPr lang="en-US" sz="1100" b="1" dirty="0">
                <a:solidFill>
                  <a:srgbClr val="5DADE2"/>
                </a:solidFill>
                <a:latin typeface="Calibri" pitchFamily="34" charset="0"/>
                <a:ea typeface="Calibri" pitchFamily="34" charset="-122"/>
                <a:cs typeface="Calibri" pitchFamily="34" charset="-120"/>
              </a:rPr>
              <a:t>投入コマンド例（SLP）</a:t>
            </a:r>
            <a:endParaRPr lang="en-US" sz="1100" dirty="0"/>
          </a:p>
        </p:txBody>
      </p:sp>
      <p:sp>
        <p:nvSpPr>
          <p:cNvPr id="26" name="Text 24"/>
          <p:cNvSpPr/>
          <p:nvPr/>
        </p:nvSpPr>
        <p:spPr>
          <a:xfrm>
            <a:off x="457200" y="5349240"/>
            <a:ext cx="11155680" cy="320040"/>
          </a:xfrm>
          <a:prstGeom prst="rect">
            <a:avLst/>
          </a:prstGeom>
          <a:noFill/>
          <a:ln/>
        </p:spPr>
        <p:txBody>
          <a:bodyPr wrap="square" lIns="0" tIns="0" rIns="0" bIns="0" rtlCol="0" anchor="ctr"/>
          <a:lstStyle/>
          <a:p>
            <a:pPr indent="0" marL="0">
              <a:buNone/>
            </a:pPr>
            <a:r>
              <a:rPr lang="en-US" sz="1200" dirty="0">
                <a:solidFill>
                  <a:srgbClr val="00FF88"/>
                </a:solidFill>
                <a:latin typeface="Courier New" pitchFamily="34" charset="0"/>
                <a:ea typeface="Courier New" pitchFamily="34" charset="-122"/>
                <a:cs typeface="Courier New" pitchFamily="34" charset="-120"/>
              </a:rPr>
              <a:t>license smart trust idtoken &lt;TOKEN&gt; all force</a:t>
            </a:r>
            <a:endParaRPr lang="en-US" sz="1200" dirty="0"/>
          </a:p>
        </p:txBody>
      </p:sp>
      <p:sp>
        <p:nvSpPr>
          <p:cNvPr id="27" name="Text 25"/>
          <p:cNvSpPr/>
          <p:nvPr/>
        </p:nvSpPr>
        <p:spPr>
          <a:xfrm>
            <a:off x="457200" y="5715000"/>
            <a:ext cx="11155680" cy="320040"/>
          </a:xfrm>
          <a:prstGeom prst="rect">
            <a:avLst/>
          </a:prstGeom>
          <a:noFill/>
          <a:ln/>
        </p:spPr>
        <p:txBody>
          <a:bodyPr wrap="square" lIns="0" tIns="0" rIns="0" bIns="0" rtlCol="0" anchor="ctr"/>
          <a:lstStyle/>
          <a:p>
            <a:pPr indent="0" marL="0">
              <a:buNone/>
            </a:pPr>
            <a:r>
              <a:rPr lang="en-US" sz="1000" dirty="0">
                <a:solidFill>
                  <a:srgbClr val="D6E4F0"/>
                </a:solidFill>
                <a:latin typeface="Calibri" pitchFamily="34" charset="0"/>
                <a:ea typeface="Calibri" pitchFamily="34" charset="-122"/>
                <a:cs typeface="Calibri" pitchFamily="34" charset="-120"/>
              </a:rPr>
              <a:t>※ 旧 Smart Licensing では  register idtoken  を使用</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TRANSPORT</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レポーティング／接続方式は 4 種</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ちがいは「機器と CSSM の間に"中継"が入るか」と「自動か手動か」だけ</a:t>
            </a:r>
            <a:endParaRPr lang="en-US" sz="1200" dirty="0"/>
          </a:p>
        </p:txBody>
      </p:sp>
      <p:sp>
        <p:nvSpPr>
          <p:cNvPr id="7" name="Shape 5"/>
          <p:cNvSpPr/>
          <p:nvPr/>
        </p:nvSpPr>
        <p:spPr>
          <a:xfrm>
            <a:off x="228600" y="1417320"/>
            <a:ext cx="5669280" cy="2423160"/>
          </a:xfrm>
          <a:prstGeom prst="roundRect">
            <a:avLst>
              <a:gd name="adj" fmla="val 3396"/>
            </a:avLst>
          </a:prstGeom>
          <a:solidFill>
            <a:srgbClr val="D6EAF8"/>
          </a:solidFill>
          <a:ln w="12700">
            <a:solidFill>
              <a:srgbClr val="D6E4F0"/>
            </a:solidFill>
            <a:prstDash val="solid"/>
          </a:ln>
          <a:effectLst>
            <a:outerShdw sx="100000" sy="100000" kx="0" ky="0" algn="bl" rotWithShape="0" blurRad="50800" dist="25400" dir="2700000">
              <a:srgbClr val="AAAAAA">
                <a:alpha val="25000"/>
              </a:srgbClr>
            </a:outerShdw>
          </a:effectLst>
        </p:spPr>
      </p:sp>
      <p:sp>
        <p:nvSpPr>
          <p:cNvPr id="8" name="Text 6"/>
          <p:cNvSpPr/>
          <p:nvPr/>
        </p:nvSpPr>
        <p:spPr>
          <a:xfrm>
            <a:off x="320040" y="1508760"/>
            <a:ext cx="5394960" cy="36576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  CSSM オンライン</a:t>
            </a:r>
            <a:endParaRPr lang="en-US" sz="1000" dirty="0"/>
          </a:p>
        </p:txBody>
      </p:sp>
      <p:sp>
        <p:nvSpPr>
          <p:cNvPr id="9" name="Text 7"/>
          <p:cNvSpPr/>
          <p:nvPr/>
        </p:nvSpPr>
        <p:spPr>
          <a:xfrm>
            <a:off x="320040" y="1828800"/>
            <a:ext cx="539496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Smart Transport</a:t>
            </a:r>
            <a:endParaRPr lang="en-US" sz="1400" dirty="0"/>
          </a:p>
        </p:txBody>
      </p:sp>
      <p:sp>
        <p:nvSpPr>
          <p:cNvPr id="10" name="Text 8"/>
          <p:cNvSpPr/>
          <p:nvPr/>
        </p:nvSpPr>
        <p:spPr>
          <a:xfrm>
            <a:off x="320040" y="2221992"/>
            <a:ext cx="5394960" cy="320040"/>
          </a:xfrm>
          <a:prstGeom prst="rect">
            <a:avLst/>
          </a:prstGeom>
          <a:noFill/>
          <a:ln/>
        </p:spPr>
        <p:txBody>
          <a:bodyPr wrap="square" lIns="0" tIns="0" rIns="0" bIns="0" rtlCol="0" anchor="ctr"/>
          <a:lstStyle/>
          <a:p>
            <a:pPr indent="0" marL="0">
              <a:buNone/>
            </a:pPr>
            <a:r>
              <a:rPr lang="en-US" sz="1100" b="1" dirty="0">
                <a:solidFill>
                  <a:srgbClr val="2E86C1"/>
                </a:solidFill>
                <a:latin typeface="Courier New" pitchFamily="34" charset="0"/>
                <a:ea typeface="Courier New" pitchFamily="34" charset="-122"/>
                <a:cs typeface="Courier New" pitchFamily="34" charset="-120"/>
              </a:rPr>
              <a:t>機器 ▶ CSSM</a:t>
            </a:r>
            <a:endParaRPr lang="en-US" sz="1100" dirty="0"/>
          </a:p>
        </p:txBody>
      </p:sp>
      <p:sp>
        <p:nvSpPr>
          <p:cNvPr id="11" name="Text 9"/>
          <p:cNvSpPr/>
          <p:nvPr/>
        </p:nvSpPr>
        <p:spPr>
          <a:xfrm>
            <a:off x="320040" y="2560320"/>
            <a:ext cx="5394960" cy="118872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機器がそのままクラウドへ報告。設定が最もシンプルで、ネットに出られるなら第一候補。</a:t>
            </a:r>
            <a:endParaRPr lang="en-US" sz="1100" dirty="0"/>
          </a:p>
        </p:txBody>
      </p:sp>
      <p:sp>
        <p:nvSpPr>
          <p:cNvPr id="12" name="Shape 10"/>
          <p:cNvSpPr/>
          <p:nvPr/>
        </p:nvSpPr>
        <p:spPr>
          <a:xfrm>
            <a:off x="6126480" y="1417320"/>
            <a:ext cx="5669280" cy="2423160"/>
          </a:xfrm>
          <a:prstGeom prst="roundRect">
            <a:avLst>
              <a:gd name="adj" fmla="val 3396"/>
            </a:avLst>
          </a:prstGeom>
          <a:solidFill>
            <a:srgbClr val="D5F5E3"/>
          </a:solidFill>
          <a:ln w="12700">
            <a:solidFill>
              <a:srgbClr val="D6E4F0"/>
            </a:solidFill>
            <a:prstDash val="solid"/>
          </a:ln>
          <a:effectLst>
            <a:outerShdw sx="100000" sy="100000" kx="0" ky="0" algn="bl" rotWithShape="0" blurRad="50800" dist="25400" dir="2700000">
              <a:srgbClr val="AAAAAA">
                <a:alpha val="25000"/>
              </a:srgbClr>
            </a:outerShdw>
          </a:effectLst>
        </p:spPr>
      </p:sp>
      <p:sp>
        <p:nvSpPr>
          <p:cNvPr id="13" name="Text 11"/>
          <p:cNvSpPr/>
          <p:nvPr/>
        </p:nvSpPr>
        <p:spPr>
          <a:xfrm>
            <a:off x="6217920" y="1508760"/>
            <a:ext cx="5394960" cy="36576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  CSLU 方式</a:t>
            </a:r>
            <a:endParaRPr lang="en-US" sz="1000" dirty="0"/>
          </a:p>
        </p:txBody>
      </p:sp>
      <p:sp>
        <p:nvSpPr>
          <p:cNvPr id="14" name="Text 12"/>
          <p:cNvSpPr/>
          <p:nvPr/>
        </p:nvSpPr>
        <p:spPr>
          <a:xfrm>
            <a:off x="6217920" y="1828800"/>
            <a:ext cx="539496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Windows で中継</a:t>
            </a:r>
            <a:endParaRPr lang="en-US" sz="1400" dirty="0"/>
          </a:p>
        </p:txBody>
      </p:sp>
      <p:sp>
        <p:nvSpPr>
          <p:cNvPr id="15" name="Text 13"/>
          <p:cNvSpPr/>
          <p:nvPr/>
        </p:nvSpPr>
        <p:spPr>
          <a:xfrm>
            <a:off x="6217920" y="2221992"/>
            <a:ext cx="5394960" cy="320040"/>
          </a:xfrm>
          <a:prstGeom prst="rect">
            <a:avLst/>
          </a:prstGeom>
          <a:noFill/>
          <a:ln/>
        </p:spPr>
        <p:txBody>
          <a:bodyPr wrap="square" lIns="0" tIns="0" rIns="0" bIns="0" rtlCol="0" anchor="ctr"/>
          <a:lstStyle/>
          <a:p>
            <a:pPr indent="0" marL="0">
              <a:buNone/>
            </a:pPr>
            <a:r>
              <a:rPr lang="en-US" sz="1100" b="1" dirty="0">
                <a:solidFill>
                  <a:srgbClr val="2E86C1"/>
                </a:solidFill>
                <a:latin typeface="Courier New" pitchFamily="34" charset="0"/>
                <a:ea typeface="Courier New" pitchFamily="34" charset="-122"/>
                <a:cs typeface="Courier New" pitchFamily="34" charset="-120"/>
              </a:rPr>
              <a:t>機器 ▶ CSLU ▶ CSSM</a:t>
            </a:r>
            <a:endParaRPr lang="en-US" sz="1100" dirty="0"/>
          </a:p>
        </p:txBody>
      </p:sp>
      <p:sp>
        <p:nvSpPr>
          <p:cNvPr id="16" name="Text 14"/>
          <p:cNvSpPr/>
          <p:nvPr/>
        </p:nvSpPr>
        <p:spPr>
          <a:xfrm>
            <a:off x="6217920" y="2560320"/>
            <a:ext cx="5394960" cy="118872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社内の Windows 端末（CSLU）が代理でレポートを中継。機器を直接ネットに出せない時に。</a:t>
            </a:r>
            <a:endParaRPr lang="en-US" sz="1100" dirty="0"/>
          </a:p>
        </p:txBody>
      </p:sp>
      <p:sp>
        <p:nvSpPr>
          <p:cNvPr id="17" name="Shape 15"/>
          <p:cNvSpPr/>
          <p:nvPr/>
        </p:nvSpPr>
        <p:spPr>
          <a:xfrm>
            <a:off x="228600" y="3977640"/>
            <a:ext cx="5669280" cy="2423160"/>
          </a:xfrm>
          <a:prstGeom prst="roundRect">
            <a:avLst>
              <a:gd name="adj" fmla="val 3396"/>
            </a:avLst>
          </a:prstGeom>
          <a:solidFill>
            <a:srgbClr val="FEF9E7"/>
          </a:solidFill>
          <a:ln w="12700">
            <a:solidFill>
              <a:srgbClr val="D6E4F0"/>
            </a:solidFill>
            <a:prstDash val="solid"/>
          </a:ln>
          <a:effectLst>
            <a:outerShdw sx="100000" sy="100000" kx="0" ky="0" algn="bl" rotWithShape="0" blurRad="50800" dist="25400" dir="2700000">
              <a:srgbClr val="AAAAAA">
                <a:alpha val="25000"/>
              </a:srgbClr>
            </a:outerShdw>
          </a:effectLst>
        </p:spPr>
      </p:sp>
      <p:sp>
        <p:nvSpPr>
          <p:cNvPr id="18" name="Text 16"/>
          <p:cNvSpPr/>
          <p:nvPr/>
        </p:nvSpPr>
        <p:spPr>
          <a:xfrm>
            <a:off x="320040" y="4069080"/>
            <a:ext cx="5394960" cy="36576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  SSM オンプレミス</a:t>
            </a:r>
            <a:endParaRPr lang="en-US" sz="1000" dirty="0"/>
          </a:p>
        </p:txBody>
      </p:sp>
      <p:sp>
        <p:nvSpPr>
          <p:cNvPr id="19" name="Text 17"/>
          <p:cNvSpPr/>
          <p:nvPr/>
        </p:nvSpPr>
        <p:spPr>
          <a:xfrm>
            <a:off x="320040" y="4389120"/>
            <a:ext cx="539496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社内サーバで集約</a:t>
            </a:r>
            <a:endParaRPr lang="en-US" sz="1400" dirty="0"/>
          </a:p>
        </p:txBody>
      </p:sp>
      <p:sp>
        <p:nvSpPr>
          <p:cNvPr id="20" name="Text 18"/>
          <p:cNvSpPr/>
          <p:nvPr/>
        </p:nvSpPr>
        <p:spPr>
          <a:xfrm>
            <a:off x="320040" y="4782312"/>
            <a:ext cx="5394960" cy="320040"/>
          </a:xfrm>
          <a:prstGeom prst="rect">
            <a:avLst/>
          </a:prstGeom>
          <a:noFill/>
          <a:ln/>
        </p:spPr>
        <p:txBody>
          <a:bodyPr wrap="square" lIns="0" tIns="0" rIns="0" bIns="0" rtlCol="0" anchor="ctr"/>
          <a:lstStyle/>
          <a:p>
            <a:pPr indent="0" marL="0">
              <a:buNone/>
            </a:pPr>
            <a:r>
              <a:rPr lang="en-US" sz="1100" b="1" dirty="0">
                <a:solidFill>
                  <a:srgbClr val="2E86C1"/>
                </a:solidFill>
                <a:latin typeface="Courier New" pitchFamily="34" charset="0"/>
                <a:ea typeface="Courier New" pitchFamily="34" charset="-122"/>
                <a:cs typeface="Courier New" pitchFamily="34" charset="-120"/>
              </a:rPr>
              <a:t>機器 ▶ SSM On-Prem ▶ CSSM</a:t>
            </a:r>
            <a:endParaRPr lang="en-US" sz="1100" dirty="0"/>
          </a:p>
        </p:txBody>
      </p:sp>
      <p:sp>
        <p:nvSpPr>
          <p:cNvPr id="21" name="Text 19"/>
          <p:cNvSpPr/>
          <p:nvPr/>
        </p:nvSpPr>
        <p:spPr>
          <a:xfrm>
            <a:off x="320040" y="5120640"/>
            <a:ext cx="5394960" cy="118872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社内サーバに集約してからクラウドと同期。台数が多い／閉域寄りの環境向け。</a:t>
            </a:r>
            <a:endParaRPr lang="en-US" sz="1100" dirty="0"/>
          </a:p>
        </p:txBody>
      </p:sp>
      <p:sp>
        <p:nvSpPr>
          <p:cNvPr id="22" name="Shape 20"/>
          <p:cNvSpPr/>
          <p:nvPr/>
        </p:nvSpPr>
        <p:spPr>
          <a:xfrm>
            <a:off x="6126480" y="3977640"/>
            <a:ext cx="5669280" cy="2423160"/>
          </a:xfrm>
          <a:prstGeom prst="roundRect">
            <a:avLst>
              <a:gd name="adj" fmla="val 3396"/>
            </a:avLst>
          </a:prstGeom>
          <a:solidFill>
            <a:srgbClr val="FDEDEC"/>
          </a:solidFill>
          <a:ln w="12700">
            <a:solidFill>
              <a:srgbClr val="D6E4F0"/>
            </a:solidFill>
            <a:prstDash val="solid"/>
          </a:ln>
          <a:effectLst>
            <a:outerShdw sx="100000" sy="100000" kx="0" ky="0" algn="bl" rotWithShape="0" blurRad="50800" dist="25400" dir="2700000">
              <a:srgbClr val="AAAAAA">
                <a:alpha val="25000"/>
              </a:srgbClr>
            </a:outerShdw>
          </a:effectLst>
        </p:spPr>
      </p:sp>
      <p:sp>
        <p:nvSpPr>
          <p:cNvPr id="23" name="Text 21"/>
          <p:cNvSpPr/>
          <p:nvPr/>
        </p:nvSpPr>
        <p:spPr>
          <a:xfrm>
            <a:off x="6217920" y="4069080"/>
            <a:ext cx="5394960" cy="36576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  オフライン / SLR</a:t>
            </a:r>
            <a:endParaRPr lang="en-US" sz="1000" dirty="0"/>
          </a:p>
        </p:txBody>
      </p:sp>
      <p:sp>
        <p:nvSpPr>
          <p:cNvPr id="24" name="Text 22"/>
          <p:cNvSpPr/>
          <p:nvPr/>
        </p:nvSpPr>
        <p:spPr>
          <a:xfrm>
            <a:off x="6217920" y="4389120"/>
            <a:ext cx="539496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手動ファイル交換</a:t>
            </a:r>
            <a:endParaRPr lang="en-US" sz="1400" dirty="0"/>
          </a:p>
        </p:txBody>
      </p:sp>
      <p:sp>
        <p:nvSpPr>
          <p:cNvPr id="25" name="Text 23"/>
          <p:cNvSpPr/>
          <p:nvPr/>
        </p:nvSpPr>
        <p:spPr>
          <a:xfrm>
            <a:off x="6217920" y="4782312"/>
            <a:ext cx="5394960" cy="320040"/>
          </a:xfrm>
          <a:prstGeom prst="rect">
            <a:avLst/>
          </a:prstGeom>
          <a:noFill/>
          <a:ln/>
        </p:spPr>
        <p:txBody>
          <a:bodyPr wrap="square" lIns="0" tIns="0" rIns="0" bIns="0" rtlCol="0" anchor="ctr"/>
          <a:lstStyle/>
          <a:p>
            <a:pPr indent="0" marL="0">
              <a:buNone/>
            </a:pPr>
            <a:r>
              <a:rPr lang="en-US" sz="1100" b="1" dirty="0">
                <a:solidFill>
                  <a:srgbClr val="2E86C1"/>
                </a:solidFill>
                <a:latin typeface="Courier New" pitchFamily="34" charset="0"/>
                <a:ea typeface="Courier New" pitchFamily="34" charset="-122"/>
                <a:cs typeface="Courier New" pitchFamily="34" charset="-120"/>
              </a:rPr>
              <a:t>機器 ▶ CSSM（手動ファイル）</a:t>
            </a:r>
            <a:endParaRPr lang="en-US" sz="1100" dirty="0"/>
          </a:p>
        </p:txBody>
      </p:sp>
      <p:sp>
        <p:nvSpPr>
          <p:cNvPr id="26" name="Text 24"/>
          <p:cNvSpPr/>
          <p:nvPr/>
        </p:nvSpPr>
        <p:spPr>
          <a:xfrm>
            <a:off x="6217920" y="5120640"/>
            <a:ext cx="5394960" cy="118872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ネット接続なし。レポートをファイルで取り出し CSSM と手作業でやり取りする完全閉域向け。</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OPERATION TIPS</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運用上のポイントと注意点</a:t>
            </a:r>
            <a:endParaRPr lang="en-US" sz="2600" dirty="0"/>
          </a:p>
        </p:txBody>
      </p:sp>
      <p:sp>
        <p:nvSpPr>
          <p:cNvPr id="6" name="Shape 4"/>
          <p:cNvSpPr/>
          <p:nvPr/>
        </p:nvSpPr>
        <p:spPr>
          <a:xfrm>
            <a:off x="274320" y="1005840"/>
            <a:ext cx="5669280" cy="2423160"/>
          </a:xfrm>
          <a:prstGeom prst="roundRect">
            <a:avLst>
              <a:gd name="adj" fmla="val 3774"/>
            </a:avLst>
          </a:prstGeom>
          <a:solidFill>
            <a:srgbClr val="F0F7FF"/>
          </a:solidFill>
          <a:ln w="19050">
            <a:solidFill>
              <a:srgbClr val="2E86C1"/>
            </a:solidFill>
            <a:prstDash val="solid"/>
          </a:ln>
          <a:effectLst>
            <a:outerShdw sx="100000" sy="100000" kx="0" ky="0" algn="bl" rotWithShape="0" blurRad="50800" dist="25400" dir="2700000">
              <a:srgbClr val="AAAAAA">
                <a:alpha val="30000"/>
              </a:srgbClr>
            </a:outerShdw>
          </a:effectLst>
        </p:spPr>
      </p:sp>
      <p:sp>
        <p:nvSpPr>
          <p:cNvPr id="7" name="Text 5"/>
          <p:cNvSpPr/>
          <p:nvPr/>
        </p:nvSpPr>
        <p:spPr>
          <a:xfrm>
            <a:off x="411480" y="1188720"/>
            <a:ext cx="73152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1143000" y="1207008"/>
            <a:ext cx="466344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移動できる範囲を押さえる</a:t>
            </a:r>
            <a:endParaRPr lang="en-US" sz="1400" dirty="0"/>
          </a:p>
        </p:txBody>
      </p:sp>
      <p:sp>
        <p:nvSpPr>
          <p:cNvPr id="9" name="Text 7"/>
          <p:cNvSpPr/>
          <p:nvPr/>
        </p:nvSpPr>
        <p:spPr>
          <a:xfrm>
            <a:off x="1143000" y="1600200"/>
            <a:ext cx="4663440" cy="164592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VA 間はライセンス移動 OK。SA 間は NG で、Cisco の作業が必要。</a:t>
            </a:r>
            <a:endParaRPr lang="en-US" sz="1200" dirty="0"/>
          </a:p>
        </p:txBody>
      </p:sp>
      <p:sp>
        <p:nvSpPr>
          <p:cNvPr id="10" name="Shape 8"/>
          <p:cNvSpPr/>
          <p:nvPr/>
        </p:nvSpPr>
        <p:spPr>
          <a:xfrm>
            <a:off x="6217920" y="1005840"/>
            <a:ext cx="5669280" cy="2423160"/>
          </a:xfrm>
          <a:prstGeom prst="roundRect">
            <a:avLst>
              <a:gd name="adj" fmla="val 3774"/>
            </a:avLst>
          </a:prstGeom>
          <a:solidFill>
            <a:srgbClr val="F0F7FF"/>
          </a:solidFill>
          <a:ln w="19050">
            <a:solidFill>
              <a:srgbClr val="2E86C1"/>
            </a:solidFill>
            <a:prstDash val="solid"/>
          </a:ln>
          <a:effectLst>
            <a:outerShdw sx="100000" sy="100000" kx="0" ky="0" algn="bl" rotWithShape="0" blurRad="50800" dist="25400" dir="2700000">
              <a:srgbClr val="AAAAAA">
                <a:alpha val="30000"/>
              </a:srgbClr>
            </a:outerShdw>
          </a:effectLst>
        </p:spPr>
      </p:sp>
      <p:sp>
        <p:nvSpPr>
          <p:cNvPr id="11" name="Text 9"/>
          <p:cNvSpPr/>
          <p:nvPr/>
        </p:nvSpPr>
        <p:spPr>
          <a:xfrm>
            <a:off x="6355080" y="1188720"/>
            <a:ext cx="73152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7086600" y="1207008"/>
            <a:ext cx="466344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VA 名に機密情報を入れない</a:t>
            </a:r>
            <a:endParaRPr lang="en-US" sz="1400" dirty="0"/>
          </a:p>
        </p:txBody>
      </p:sp>
      <p:sp>
        <p:nvSpPr>
          <p:cNvPr id="13" name="Text 11"/>
          <p:cNvSpPr/>
          <p:nvPr/>
        </p:nvSpPr>
        <p:spPr>
          <a:xfrm>
            <a:off x="7086600" y="1600200"/>
            <a:ext cx="4663440" cy="164592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VA 名は CCW 上でパートナーからも見える。社内名や機密は避ける。</a:t>
            </a:r>
            <a:endParaRPr lang="en-US" sz="1200" dirty="0"/>
          </a:p>
        </p:txBody>
      </p:sp>
      <p:sp>
        <p:nvSpPr>
          <p:cNvPr id="14" name="Shape 12"/>
          <p:cNvSpPr/>
          <p:nvPr/>
        </p:nvSpPr>
        <p:spPr>
          <a:xfrm>
            <a:off x="274320" y="3611880"/>
            <a:ext cx="5669280" cy="2423160"/>
          </a:xfrm>
          <a:prstGeom prst="roundRect">
            <a:avLst>
              <a:gd name="adj" fmla="val 3774"/>
            </a:avLst>
          </a:prstGeom>
          <a:solidFill>
            <a:srgbClr val="F0F7FF"/>
          </a:solidFill>
          <a:ln w="19050">
            <a:solidFill>
              <a:srgbClr val="2E86C1"/>
            </a:solidFill>
            <a:prstDash val="solid"/>
          </a:ln>
          <a:effectLst>
            <a:outerShdw sx="100000" sy="100000" kx="0" ky="0" algn="bl" rotWithShape="0" blurRad="50800" dist="25400" dir="2700000">
              <a:srgbClr val="AAAAAA">
                <a:alpha val="30000"/>
              </a:srgbClr>
            </a:outerShdw>
          </a:effectLst>
        </p:spPr>
      </p:sp>
      <p:sp>
        <p:nvSpPr>
          <p:cNvPr id="15" name="Text 13"/>
          <p:cNvSpPr/>
          <p:nvPr/>
        </p:nvSpPr>
        <p:spPr>
          <a:xfrm>
            <a:off x="411480" y="3794760"/>
            <a:ext cx="73152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1143000" y="3813048"/>
            <a:ext cx="466344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統合・分離はサポート案件</a:t>
            </a:r>
            <a:endParaRPr lang="en-US" sz="1400" dirty="0"/>
          </a:p>
        </p:txBody>
      </p:sp>
      <p:sp>
        <p:nvSpPr>
          <p:cNvPr id="17" name="Text 15"/>
          <p:cNvSpPr/>
          <p:nvPr/>
        </p:nvSpPr>
        <p:spPr>
          <a:xfrm>
            <a:off x="1143000" y="4206240"/>
            <a:ext cx="4663440" cy="164592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SA の統合/分離は Cisco サポートの承認と作業が前提になる。</a:t>
            </a:r>
            <a:endParaRPr lang="en-US" sz="1200" dirty="0"/>
          </a:p>
        </p:txBody>
      </p:sp>
      <p:sp>
        <p:nvSpPr>
          <p:cNvPr id="18" name="Shape 16"/>
          <p:cNvSpPr/>
          <p:nvPr/>
        </p:nvSpPr>
        <p:spPr>
          <a:xfrm>
            <a:off x="6217920" y="3611880"/>
            <a:ext cx="5669280" cy="2423160"/>
          </a:xfrm>
          <a:prstGeom prst="roundRect">
            <a:avLst>
              <a:gd name="adj" fmla="val 3774"/>
            </a:avLst>
          </a:prstGeom>
          <a:solidFill>
            <a:srgbClr val="F0F7FF"/>
          </a:solidFill>
          <a:ln w="19050">
            <a:solidFill>
              <a:srgbClr val="2E86C1"/>
            </a:solidFill>
            <a:prstDash val="solid"/>
          </a:ln>
          <a:effectLst>
            <a:outerShdw sx="100000" sy="100000" kx="0" ky="0" algn="bl" rotWithShape="0" blurRad="50800" dist="25400" dir="2700000">
              <a:srgbClr val="AAAAAA">
                <a:alpha val="30000"/>
              </a:srgbClr>
            </a:outerShdw>
          </a:effectLst>
        </p:spPr>
      </p:sp>
      <p:sp>
        <p:nvSpPr>
          <p:cNvPr id="19" name="Text 17"/>
          <p:cNvSpPr/>
          <p:nvPr/>
        </p:nvSpPr>
        <p:spPr>
          <a:xfrm>
            <a:off x="6355080" y="3794760"/>
            <a:ext cx="73152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0" name="Text 18"/>
          <p:cNvSpPr/>
          <p:nvPr/>
        </p:nvSpPr>
        <p:spPr>
          <a:xfrm>
            <a:off x="7086600" y="3813048"/>
            <a:ext cx="466344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初期の VA 設計が重要</a:t>
            </a:r>
            <a:endParaRPr lang="en-US" sz="1400" dirty="0"/>
          </a:p>
        </p:txBody>
      </p:sp>
      <p:sp>
        <p:nvSpPr>
          <p:cNvPr id="21" name="Text 19"/>
          <p:cNvSpPr/>
          <p:nvPr/>
        </p:nvSpPr>
        <p:spPr>
          <a:xfrm>
            <a:off x="7086600" y="4206240"/>
            <a:ext cx="4663440" cy="164592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既定 VA は自動生成。後から構造変更しにくいので最初に設計する。</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PRACTICAL JUDGMENT</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デフォルト VA のまま？ それとも分ける？</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規模と運用次第。小規模なら変えなくてよいが、分けたい動機があれば足す</a:t>
            </a:r>
            <a:endParaRPr lang="en-US" sz="1200" dirty="0"/>
          </a:p>
        </p:txBody>
      </p:sp>
      <p:sp>
        <p:nvSpPr>
          <p:cNvPr id="7" name="Shape 5"/>
          <p:cNvSpPr/>
          <p:nvPr/>
        </p:nvSpPr>
        <p:spPr>
          <a:xfrm>
            <a:off x="274320" y="1417320"/>
            <a:ext cx="5394960" cy="4846320"/>
          </a:xfrm>
          <a:prstGeom prst="roundRect">
            <a:avLst>
              <a:gd name="adj" fmla="val 1887"/>
            </a:avLst>
          </a:prstGeom>
          <a:solidFill>
            <a:srgbClr val="F0F4F8"/>
          </a:solidFill>
          <a:ln w="19050">
            <a:solidFill>
              <a:srgbClr val="4A6080"/>
            </a:solidFill>
            <a:prstDash val="solid"/>
          </a:ln>
        </p:spPr>
      </p:sp>
      <p:sp>
        <p:nvSpPr>
          <p:cNvPr id="8" name="Text 6"/>
          <p:cNvSpPr/>
          <p:nvPr/>
        </p:nvSpPr>
        <p:spPr>
          <a:xfrm>
            <a:off x="365760" y="1508760"/>
            <a:ext cx="5212080" cy="457200"/>
          </a:xfrm>
          <a:prstGeom prst="rect">
            <a:avLst/>
          </a:prstGeom>
          <a:noFill/>
          <a:ln/>
        </p:spPr>
        <p:txBody>
          <a:bodyPr wrap="square" lIns="0" tIns="0" rIns="0" bIns="0" rtlCol="0" anchor="ctr"/>
          <a:lstStyle/>
          <a:p>
            <a:pPr algn="ctr" indent="0" marL="0">
              <a:buNone/>
            </a:pPr>
            <a:r>
              <a:rPr lang="en-US" sz="1600" b="1" dirty="0">
                <a:solidFill>
                  <a:srgbClr val="1E3A5F"/>
                </a:solidFill>
                <a:latin typeface="Calibri" pitchFamily="34" charset="0"/>
                <a:ea typeface="Calibri" pitchFamily="34" charset="-122"/>
                <a:cs typeface="Calibri" pitchFamily="34" charset="-120"/>
              </a:rPr>
              <a:t>デフォルト VA で十分</a:t>
            </a:r>
            <a:endParaRPr lang="en-US" sz="1600" dirty="0"/>
          </a:p>
        </p:txBody>
      </p:sp>
      <p:sp>
        <p:nvSpPr>
          <p:cNvPr id="9" name="Text 7"/>
          <p:cNvSpPr/>
          <p:nvPr/>
        </p:nvSpPr>
        <p:spPr>
          <a:xfrm>
            <a:off x="457200" y="2103120"/>
            <a:ext cx="512064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機器・ライセンスが少なく、1 つの箱で足りる</a:t>
            </a:r>
            <a:endParaRPr lang="en-US" sz="1200" dirty="0"/>
          </a:p>
        </p:txBody>
      </p:sp>
      <p:sp>
        <p:nvSpPr>
          <p:cNvPr id="10" name="Text 8"/>
          <p:cNvSpPr/>
          <p:nvPr/>
        </p:nvSpPr>
        <p:spPr>
          <a:xfrm>
            <a:off x="457200" y="3063240"/>
            <a:ext cx="512064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管理担当が限られ、アクセス分割が不要</a:t>
            </a:r>
            <a:endParaRPr lang="en-US" sz="1200" dirty="0"/>
          </a:p>
        </p:txBody>
      </p:sp>
      <p:sp>
        <p:nvSpPr>
          <p:cNvPr id="11" name="Text 9"/>
          <p:cNvSpPr/>
          <p:nvPr/>
        </p:nvSpPr>
        <p:spPr>
          <a:xfrm>
            <a:off x="457200" y="4023360"/>
            <a:ext cx="512064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拠点・部門をまたぐ切り分けが不要</a:t>
            </a:r>
            <a:endParaRPr lang="en-US" sz="1200" dirty="0"/>
          </a:p>
        </p:txBody>
      </p:sp>
      <p:sp>
        <p:nvSpPr>
          <p:cNvPr id="12" name="Text 10"/>
          <p:cNvSpPr/>
          <p:nvPr/>
        </p:nvSpPr>
        <p:spPr>
          <a:xfrm>
            <a:off x="5669280" y="3291840"/>
            <a:ext cx="822960" cy="594360"/>
          </a:xfrm>
          <a:prstGeom prst="rect">
            <a:avLst/>
          </a:prstGeom>
          <a:noFill/>
          <a:ln/>
        </p:spPr>
        <p:txBody>
          <a:bodyPr wrap="square" lIns="0" tIns="0" rIns="0" bIns="0" rtlCol="0" anchor="ctr"/>
          <a:lstStyle/>
          <a:p>
            <a:pPr algn="ctr" indent="0" marL="0">
              <a:buNone/>
            </a:pPr>
            <a:r>
              <a:rPr lang="en-US" sz="1800" b="1" dirty="0">
                <a:solidFill>
                  <a:srgbClr val="1E3A5F"/>
                </a:solidFill>
                <a:latin typeface="Calibri" pitchFamily="34" charset="0"/>
                <a:ea typeface="Calibri" pitchFamily="34" charset="-122"/>
                <a:cs typeface="Calibri" pitchFamily="34" charset="-120"/>
              </a:rPr>
              <a:t>VS</a:t>
            </a:r>
            <a:endParaRPr lang="en-US" sz="1800" dirty="0"/>
          </a:p>
        </p:txBody>
      </p:sp>
      <p:sp>
        <p:nvSpPr>
          <p:cNvPr id="13" name="Shape 11"/>
          <p:cNvSpPr/>
          <p:nvPr/>
        </p:nvSpPr>
        <p:spPr>
          <a:xfrm>
            <a:off x="6492240" y="1417320"/>
            <a:ext cx="5394960" cy="4846320"/>
          </a:xfrm>
          <a:prstGeom prst="roundRect">
            <a:avLst>
              <a:gd name="adj" fmla="val 1887"/>
            </a:avLst>
          </a:prstGeom>
          <a:solidFill>
            <a:srgbClr val="EBF5FB"/>
          </a:solidFill>
          <a:ln w="25400">
            <a:solidFill>
              <a:srgbClr val="2E86C1"/>
            </a:solidFill>
            <a:prstDash val="solid"/>
          </a:ln>
        </p:spPr>
      </p:sp>
      <p:sp>
        <p:nvSpPr>
          <p:cNvPr id="14" name="Text 12"/>
          <p:cNvSpPr/>
          <p:nvPr/>
        </p:nvSpPr>
        <p:spPr>
          <a:xfrm>
            <a:off x="6583680" y="1508760"/>
            <a:ext cx="5212080" cy="457200"/>
          </a:xfrm>
          <a:prstGeom prst="rect">
            <a:avLst/>
          </a:prstGeom>
          <a:noFill/>
          <a:ln/>
        </p:spPr>
        <p:txBody>
          <a:bodyPr wrap="square" lIns="0" tIns="0" rIns="0" bIns="0" rtlCol="0" anchor="ctr"/>
          <a:lstStyle/>
          <a:p>
            <a:pPr algn="ctr" indent="0" marL="0">
              <a:buNone/>
            </a:pPr>
            <a:r>
              <a:rPr lang="en-US" sz="1600" b="1" dirty="0">
                <a:solidFill>
                  <a:srgbClr val="1E3A5F"/>
                </a:solidFill>
                <a:latin typeface="Calibri" pitchFamily="34" charset="0"/>
                <a:ea typeface="Calibri" pitchFamily="34" charset="-122"/>
                <a:cs typeface="Calibri" pitchFamily="34" charset="-120"/>
              </a:rPr>
              <a:t>VA を追加・使い分ける</a:t>
            </a:r>
            <a:endParaRPr lang="en-US" sz="1600" dirty="0"/>
          </a:p>
        </p:txBody>
      </p:sp>
      <p:sp>
        <p:nvSpPr>
          <p:cNvPr id="15" name="Text 13"/>
          <p:cNvSpPr/>
          <p:nvPr/>
        </p:nvSpPr>
        <p:spPr>
          <a:xfrm>
            <a:off x="6629400" y="2103120"/>
            <a:ext cx="516636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部門・拠点・案件ごとに分けて可視化したい</a:t>
            </a:r>
            <a:endParaRPr lang="en-US" sz="1200" dirty="0"/>
          </a:p>
        </p:txBody>
      </p:sp>
      <p:sp>
        <p:nvSpPr>
          <p:cNvPr id="16" name="Text 14"/>
          <p:cNvSpPr/>
          <p:nvPr/>
        </p:nvSpPr>
        <p:spPr>
          <a:xfrm>
            <a:off x="6629400" y="3063240"/>
            <a:ext cx="516636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担当者ごとにアクセス制御（VA ＝ 権限の境界）</a:t>
            </a:r>
            <a:endParaRPr lang="en-US" sz="1200" dirty="0"/>
          </a:p>
        </p:txBody>
      </p:sp>
      <p:sp>
        <p:nvSpPr>
          <p:cNvPr id="17" name="Text 15"/>
          <p:cNvSpPr/>
          <p:nvPr/>
        </p:nvSpPr>
        <p:spPr>
          <a:xfrm>
            <a:off x="6629400" y="4023360"/>
            <a:ext cx="516636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本番と Lab / 検証を分けたい</a:t>
            </a:r>
            <a:endParaRPr lang="en-US" sz="1200" dirty="0"/>
          </a:p>
        </p:txBody>
      </p:sp>
      <p:sp>
        <p:nvSpPr>
          <p:cNvPr id="18" name="Text 16"/>
          <p:cNvSpPr/>
          <p:nvPr/>
        </p:nvSpPr>
        <p:spPr>
          <a:xfrm>
            <a:off x="6629400" y="4983480"/>
            <a:ext cx="5166360" cy="77724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  委託先・パートナーに一部だけ見せたい</a:t>
            </a:r>
            <a:endParaRPr lang="en-US" sz="1200" dirty="0"/>
          </a:p>
        </p:txBody>
      </p:sp>
      <p:sp>
        <p:nvSpPr>
          <p:cNvPr id="19" name="Shape 17"/>
          <p:cNvSpPr/>
          <p:nvPr/>
        </p:nvSpPr>
        <p:spPr>
          <a:xfrm>
            <a:off x="274320" y="6355080"/>
            <a:ext cx="11612880" cy="365760"/>
          </a:xfrm>
          <a:prstGeom prst="roundRect">
            <a:avLst>
              <a:gd name="adj" fmla="val 12500"/>
            </a:avLst>
          </a:prstGeom>
          <a:solidFill>
            <a:srgbClr val="1E3A5F"/>
          </a:solidFill>
          <a:ln/>
        </p:spPr>
      </p:sp>
      <p:sp>
        <p:nvSpPr>
          <p:cNvPr id="20" name="Text 18"/>
          <p:cNvSpPr/>
          <p:nvPr/>
        </p:nvSpPr>
        <p:spPr>
          <a:xfrm>
            <a:off x="457200" y="6373368"/>
            <a:ext cx="11338560" cy="3474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「デフォルトを変える」＝ 実際は別 VA を追加するだけ。最初に「将来、拠点や担当で分けたくなるか」だけ考えておく。</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SUMMARY</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まとめ</a:t>
            </a:r>
            <a:endParaRPr lang="en-US" sz="2600" dirty="0"/>
          </a:p>
        </p:txBody>
      </p:sp>
      <p:sp>
        <p:nvSpPr>
          <p:cNvPr id="6" name="Shape 4"/>
          <p:cNvSpPr/>
          <p:nvPr/>
        </p:nvSpPr>
        <p:spPr>
          <a:xfrm>
            <a:off x="365760" y="1051560"/>
            <a:ext cx="5669280" cy="3200400"/>
          </a:xfrm>
          <a:prstGeom prst="roundRect">
            <a:avLst>
              <a:gd name="adj" fmla="val 2857"/>
            </a:avLst>
          </a:prstGeom>
          <a:solidFill>
            <a:srgbClr val="D6EAF8"/>
          </a:solidFill>
          <a:ln w="25400">
            <a:solidFill>
              <a:srgbClr val="2E86C1"/>
            </a:solidFill>
            <a:prstDash val="solid"/>
          </a:ln>
          <a:effectLst>
            <a:outerShdw sx="100000" sy="100000" kx="0" ky="0" algn="bl" rotWithShape="0" blurRad="76200" dist="38100" dir="2700000">
              <a:srgbClr val="AAAAAA">
                <a:alpha val="30000"/>
              </a:srgbClr>
            </a:outerShdw>
          </a:effectLst>
        </p:spPr>
      </p:sp>
      <p:sp>
        <p:nvSpPr>
          <p:cNvPr id="7" name="Text 5"/>
          <p:cNvSpPr/>
          <p:nvPr/>
        </p:nvSpPr>
        <p:spPr>
          <a:xfrm>
            <a:off x="548640" y="1188720"/>
            <a:ext cx="914400" cy="91440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8" name="Text 6"/>
          <p:cNvSpPr/>
          <p:nvPr/>
        </p:nvSpPr>
        <p:spPr>
          <a:xfrm>
            <a:off x="1463040" y="1280160"/>
            <a:ext cx="4389120" cy="502920"/>
          </a:xfrm>
          <a:prstGeom prst="rect">
            <a:avLst/>
          </a:prstGeom>
          <a:noFill/>
          <a:ln/>
        </p:spPr>
        <p:txBody>
          <a:bodyPr wrap="square" lIns="0" tIns="0" rIns="0" bIns="0" rtlCol="0" anchor="ctr"/>
          <a:lstStyle/>
          <a:p>
            <a:pPr indent="0" marL="0">
              <a:buNone/>
            </a:pPr>
            <a:r>
              <a:rPr lang="en-US" sz="1800" b="1" dirty="0">
                <a:solidFill>
                  <a:srgbClr val="1E3A5F"/>
                </a:solidFill>
                <a:latin typeface="Calibri" pitchFamily="34" charset="0"/>
                <a:ea typeface="Calibri" pitchFamily="34" charset="-122"/>
                <a:cs typeface="Calibri" pitchFamily="34" charset="-120"/>
              </a:rPr>
              <a:t>SA ＝ 会社単位の器</a:t>
            </a:r>
            <a:endParaRPr lang="en-US" sz="1800" dirty="0"/>
          </a:p>
        </p:txBody>
      </p:sp>
      <p:sp>
        <p:nvSpPr>
          <p:cNvPr id="9" name="Text 7"/>
          <p:cNvSpPr/>
          <p:nvPr/>
        </p:nvSpPr>
        <p:spPr>
          <a:xfrm>
            <a:off x="548640" y="2103120"/>
            <a:ext cx="5303520" cy="1920240"/>
          </a:xfrm>
          <a:prstGeom prst="rect">
            <a:avLst/>
          </a:prstGeom>
          <a:noFill/>
          <a:ln/>
        </p:spPr>
        <p:txBody>
          <a:bodyPr wrap="square" lIns="0" tIns="0" rIns="0" bIns="0" rtlCol="0" anchor="ctr"/>
          <a:lstStyle/>
          <a:p>
            <a:pPr indent="0" marL="0">
              <a:buNone/>
            </a:pPr>
            <a:r>
              <a:rPr lang="en-US" sz="1300" dirty="0">
                <a:solidFill>
                  <a:srgbClr val="4A6080"/>
                </a:solidFill>
                <a:latin typeface="Calibri" pitchFamily="34" charset="0"/>
                <a:ea typeface="Calibri" pitchFamily="34" charset="-122"/>
                <a:cs typeface="Calibri" pitchFamily="34" charset="-120"/>
              </a:rPr>
              <a:t>ドメイン単位で 1 つ。ライセンスの最終的な受け皿で、SA 間の移動はできない。</a:t>
            </a:r>
            <a:endParaRPr lang="en-US" sz="1300" dirty="0"/>
          </a:p>
        </p:txBody>
      </p:sp>
      <p:sp>
        <p:nvSpPr>
          <p:cNvPr id="10" name="Shape 8"/>
          <p:cNvSpPr/>
          <p:nvPr/>
        </p:nvSpPr>
        <p:spPr>
          <a:xfrm>
            <a:off x="6263640" y="1051560"/>
            <a:ext cx="5669280" cy="3200400"/>
          </a:xfrm>
          <a:prstGeom prst="roundRect">
            <a:avLst>
              <a:gd name="adj" fmla="val 2857"/>
            </a:avLst>
          </a:prstGeom>
          <a:solidFill>
            <a:srgbClr val="D5F5E3"/>
          </a:solidFill>
          <a:ln w="25400">
            <a:solidFill>
              <a:srgbClr val="2E86C1"/>
            </a:solidFill>
            <a:prstDash val="solid"/>
          </a:ln>
          <a:effectLst>
            <a:outerShdw sx="100000" sy="100000" kx="0" ky="0" algn="bl" rotWithShape="0" blurRad="76200" dist="38100" dir="2700000">
              <a:srgbClr val="AAAAAA">
                <a:alpha val="30000"/>
              </a:srgbClr>
            </a:outerShdw>
          </a:effectLst>
        </p:spPr>
      </p:sp>
      <p:sp>
        <p:nvSpPr>
          <p:cNvPr id="11" name="Text 9"/>
          <p:cNvSpPr/>
          <p:nvPr/>
        </p:nvSpPr>
        <p:spPr>
          <a:xfrm>
            <a:off x="6446520" y="1188720"/>
            <a:ext cx="914400" cy="91440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2" name="Text 10"/>
          <p:cNvSpPr/>
          <p:nvPr/>
        </p:nvSpPr>
        <p:spPr>
          <a:xfrm>
            <a:off x="7360920" y="1280160"/>
            <a:ext cx="4389120" cy="502920"/>
          </a:xfrm>
          <a:prstGeom prst="rect">
            <a:avLst/>
          </a:prstGeom>
          <a:noFill/>
          <a:ln/>
        </p:spPr>
        <p:txBody>
          <a:bodyPr wrap="square" lIns="0" tIns="0" rIns="0" bIns="0" rtlCol="0" anchor="ctr"/>
          <a:lstStyle/>
          <a:p>
            <a:pPr indent="0" marL="0">
              <a:buNone/>
            </a:pPr>
            <a:r>
              <a:rPr lang="en-US" sz="1800" b="1" dirty="0">
                <a:solidFill>
                  <a:srgbClr val="1E3A5F"/>
                </a:solidFill>
                <a:latin typeface="Calibri" pitchFamily="34" charset="0"/>
                <a:ea typeface="Calibri" pitchFamily="34" charset="-122"/>
                <a:cs typeface="Calibri" pitchFamily="34" charset="-120"/>
              </a:rPr>
              <a:t>VA ＝ 中を区切る棚</a:t>
            </a:r>
            <a:endParaRPr lang="en-US" sz="1800" dirty="0"/>
          </a:p>
        </p:txBody>
      </p:sp>
      <p:sp>
        <p:nvSpPr>
          <p:cNvPr id="13" name="Text 11"/>
          <p:cNvSpPr/>
          <p:nvPr/>
        </p:nvSpPr>
        <p:spPr>
          <a:xfrm>
            <a:off x="6446520" y="2103120"/>
            <a:ext cx="5303520" cy="1920240"/>
          </a:xfrm>
          <a:prstGeom prst="rect">
            <a:avLst/>
          </a:prstGeom>
          <a:noFill/>
          <a:ln/>
        </p:spPr>
        <p:txBody>
          <a:bodyPr wrap="square" lIns="0" tIns="0" rIns="0" bIns="0" rtlCol="0" anchor="ctr"/>
          <a:lstStyle/>
          <a:p>
            <a:pPr indent="0" marL="0">
              <a:buNone/>
            </a:pPr>
            <a:r>
              <a:rPr lang="en-US" sz="1300" dirty="0">
                <a:solidFill>
                  <a:srgbClr val="4A6080"/>
                </a:solidFill>
                <a:latin typeface="Calibri" pitchFamily="34" charset="0"/>
                <a:ea typeface="Calibri" pitchFamily="34" charset="-122"/>
                <a:cs typeface="Calibri" pitchFamily="34" charset="-120"/>
              </a:rPr>
              <a:t>部門・拠点で整理する権限の境界。VA 間の移動は可能で、最大 10 階層まで入れ子。</a:t>
            </a:r>
            <a:endParaRPr lang="en-US" sz="1300" dirty="0"/>
          </a:p>
        </p:txBody>
      </p:sp>
      <p:sp>
        <p:nvSpPr>
          <p:cNvPr id="14" name="Shape 12"/>
          <p:cNvSpPr/>
          <p:nvPr/>
        </p:nvSpPr>
        <p:spPr>
          <a:xfrm>
            <a:off x="365760" y="4389120"/>
            <a:ext cx="11430000" cy="1463040"/>
          </a:xfrm>
          <a:prstGeom prst="roundRect">
            <a:avLst>
              <a:gd name="adj" fmla="val 5000"/>
            </a:avLst>
          </a:prstGeom>
          <a:solidFill>
            <a:srgbClr val="1E3A5F"/>
          </a:solidFill>
          <a:ln w="12700">
            <a:solidFill>
              <a:srgbClr val="2E86C1"/>
            </a:solidFill>
            <a:prstDash val="solid"/>
          </a:ln>
        </p:spPr>
      </p:sp>
      <p:sp>
        <p:nvSpPr>
          <p:cNvPr id="15" name="Text 13"/>
          <p:cNvSpPr/>
          <p:nvPr/>
        </p:nvSpPr>
        <p:spPr>
          <a:xfrm>
            <a:off x="548640" y="4480560"/>
            <a:ext cx="10972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最初の SA/VA 設計が後の運用しやすさを決める</a:t>
            </a:r>
            <a:endParaRPr lang="en-US" sz="1800" dirty="0"/>
          </a:p>
        </p:txBody>
      </p:sp>
      <p:sp>
        <p:nvSpPr>
          <p:cNvPr id="16" name="Text 14"/>
          <p:cNvSpPr/>
          <p:nvPr/>
        </p:nvSpPr>
        <p:spPr>
          <a:xfrm>
            <a:off x="548640" y="4937760"/>
            <a:ext cx="10972800" cy="365760"/>
          </a:xfrm>
          <a:prstGeom prst="rect">
            <a:avLst/>
          </a:prstGeom>
          <a:noFill/>
          <a:ln/>
        </p:spPr>
        <p:txBody>
          <a:bodyPr wrap="square" lIns="0" tIns="0" rIns="0" bIns="0" rtlCol="0" anchor="ctr"/>
          <a:lstStyle/>
          <a:p>
            <a:pPr algn="ctr" indent="0" marL="0">
              <a:buNone/>
            </a:pPr>
            <a:r>
              <a:rPr lang="en-US" sz="1400" dirty="0">
                <a:solidFill>
                  <a:srgbClr val="D6E4F0"/>
                </a:solidFill>
                <a:latin typeface="Calibri" pitchFamily="34" charset="0"/>
                <a:ea typeface="Calibri" pitchFamily="34" charset="-122"/>
                <a:cs typeface="Calibri" pitchFamily="34" charset="-120"/>
              </a:rPr>
              <a:t>会社の組織構造に合わせて棚割りを考える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APPENDIX ｜ 番外編</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Meraki のライセンス投入は別方式</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SSM のトークン投入とは異なり、すべてダッシュボードで「キーを Claim」する</a:t>
            </a:r>
            <a:endParaRPr lang="en-US" sz="1200" dirty="0"/>
          </a:p>
        </p:txBody>
      </p:sp>
      <p:sp>
        <p:nvSpPr>
          <p:cNvPr id="7" name="Shape 5"/>
          <p:cNvSpPr/>
          <p:nvPr/>
        </p:nvSpPr>
        <p:spPr>
          <a:xfrm>
            <a:off x="228600" y="1417320"/>
            <a:ext cx="2697480" cy="457200"/>
          </a:xfrm>
          <a:prstGeom prst="rect">
            <a:avLst/>
          </a:prstGeom>
          <a:solidFill>
            <a:srgbClr val="1E3A5F"/>
          </a:solidFill>
          <a:ln/>
        </p:spPr>
      </p:sp>
      <p:sp>
        <p:nvSpPr>
          <p:cNvPr id="8" name="Text 6"/>
          <p:cNvSpPr/>
          <p:nvPr/>
        </p:nvSpPr>
        <p:spPr>
          <a:xfrm>
            <a:off x="274320" y="1417320"/>
            <a:ext cx="26517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観点</a:t>
            </a:r>
            <a:endParaRPr lang="en-US" sz="1300" dirty="0"/>
          </a:p>
        </p:txBody>
      </p:sp>
      <p:sp>
        <p:nvSpPr>
          <p:cNvPr id="9" name="Shape 7"/>
          <p:cNvSpPr/>
          <p:nvPr/>
        </p:nvSpPr>
        <p:spPr>
          <a:xfrm>
            <a:off x="3063240" y="1417320"/>
            <a:ext cx="4069080" cy="457200"/>
          </a:xfrm>
          <a:prstGeom prst="rect">
            <a:avLst/>
          </a:prstGeom>
          <a:solidFill>
            <a:srgbClr val="1E3A5F"/>
          </a:solidFill>
          <a:ln/>
        </p:spPr>
      </p:sp>
      <p:sp>
        <p:nvSpPr>
          <p:cNvPr id="10" name="Text 8"/>
          <p:cNvSpPr/>
          <p:nvPr/>
        </p:nvSpPr>
        <p:spPr>
          <a:xfrm>
            <a:off x="3108960" y="1417320"/>
            <a:ext cx="4023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SSM（今回）</a:t>
            </a:r>
            <a:endParaRPr lang="en-US" sz="1300" dirty="0"/>
          </a:p>
        </p:txBody>
      </p:sp>
      <p:sp>
        <p:nvSpPr>
          <p:cNvPr id="11" name="Shape 9"/>
          <p:cNvSpPr/>
          <p:nvPr/>
        </p:nvSpPr>
        <p:spPr>
          <a:xfrm>
            <a:off x="7269480" y="1417320"/>
            <a:ext cx="4069080" cy="457200"/>
          </a:xfrm>
          <a:prstGeom prst="rect">
            <a:avLst/>
          </a:prstGeom>
          <a:solidFill>
            <a:srgbClr val="1E3A5F"/>
          </a:solidFill>
          <a:ln/>
        </p:spPr>
      </p:sp>
      <p:sp>
        <p:nvSpPr>
          <p:cNvPr id="12" name="Text 10"/>
          <p:cNvSpPr/>
          <p:nvPr/>
        </p:nvSpPr>
        <p:spPr>
          <a:xfrm>
            <a:off x="7315200" y="1417320"/>
            <a:ext cx="4023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Meraki</a:t>
            </a:r>
            <a:endParaRPr lang="en-US" sz="1300" dirty="0"/>
          </a:p>
        </p:txBody>
      </p:sp>
      <p:sp>
        <p:nvSpPr>
          <p:cNvPr id="13" name="Shape 11"/>
          <p:cNvSpPr/>
          <p:nvPr/>
        </p:nvSpPr>
        <p:spPr>
          <a:xfrm>
            <a:off x="228600" y="1920240"/>
            <a:ext cx="2697480" cy="566928"/>
          </a:xfrm>
          <a:prstGeom prst="rect">
            <a:avLst/>
          </a:prstGeom>
          <a:solidFill>
            <a:srgbClr val="F0F7FF"/>
          </a:solidFill>
          <a:ln w="6350">
            <a:solidFill>
              <a:srgbClr val="D6E4F0"/>
            </a:solidFill>
            <a:prstDash val="solid"/>
          </a:ln>
        </p:spPr>
      </p:sp>
      <p:sp>
        <p:nvSpPr>
          <p:cNvPr id="14" name="Text 12"/>
          <p:cNvSpPr/>
          <p:nvPr/>
        </p:nvSpPr>
        <p:spPr>
          <a:xfrm>
            <a:off x="301752" y="1920240"/>
            <a:ext cx="26060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投入場所</a:t>
            </a:r>
            <a:endParaRPr lang="en-US" sz="1200" dirty="0"/>
          </a:p>
        </p:txBody>
      </p:sp>
      <p:sp>
        <p:nvSpPr>
          <p:cNvPr id="15" name="Shape 13"/>
          <p:cNvSpPr/>
          <p:nvPr/>
        </p:nvSpPr>
        <p:spPr>
          <a:xfrm>
            <a:off x="3063240" y="1920240"/>
            <a:ext cx="4069080" cy="566928"/>
          </a:xfrm>
          <a:prstGeom prst="rect">
            <a:avLst/>
          </a:prstGeom>
          <a:solidFill>
            <a:srgbClr val="F0F7FF"/>
          </a:solidFill>
          <a:ln w="6350">
            <a:solidFill>
              <a:srgbClr val="D6E4F0"/>
            </a:solidFill>
            <a:prstDash val="solid"/>
          </a:ln>
        </p:spPr>
      </p:sp>
      <p:sp>
        <p:nvSpPr>
          <p:cNvPr id="16" name="Text 14"/>
          <p:cNvSpPr/>
          <p:nvPr/>
        </p:nvSpPr>
        <p:spPr>
          <a:xfrm>
            <a:off x="3136392" y="1920240"/>
            <a:ext cx="39776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機器の CLI</a:t>
            </a:r>
            <a:endParaRPr lang="en-US" sz="1200" dirty="0"/>
          </a:p>
        </p:txBody>
      </p:sp>
      <p:sp>
        <p:nvSpPr>
          <p:cNvPr id="17" name="Shape 15"/>
          <p:cNvSpPr/>
          <p:nvPr/>
        </p:nvSpPr>
        <p:spPr>
          <a:xfrm>
            <a:off x="7269480" y="1920240"/>
            <a:ext cx="4069080" cy="566928"/>
          </a:xfrm>
          <a:prstGeom prst="rect">
            <a:avLst/>
          </a:prstGeom>
          <a:solidFill>
            <a:srgbClr val="F0F7FF"/>
          </a:solidFill>
          <a:ln w="6350">
            <a:solidFill>
              <a:srgbClr val="D6E4F0"/>
            </a:solidFill>
            <a:prstDash val="solid"/>
          </a:ln>
        </p:spPr>
      </p:sp>
      <p:sp>
        <p:nvSpPr>
          <p:cNvPr id="18" name="Text 16"/>
          <p:cNvSpPr/>
          <p:nvPr/>
        </p:nvSpPr>
        <p:spPr>
          <a:xfrm>
            <a:off x="7342632" y="1920240"/>
            <a:ext cx="39776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ダッシュボード（クラウド）</a:t>
            </a:r>
            <a:endParaRPr lang="en-US" sz="1200" dirty="0"/>
          </a:p>
        </p:txBody>
      </p:sp>
      <p:sp>
        <p:nvSpPr>
          <p:cNvPr id="19" name="Shape 17"/>
          <p:cNvSpPr/>
          <p:nvPr/>
        </p:nvSpPr>
        <p:spPr>
          <a:xfrm>
            <a:off x="228600" y="2514600"/>
            <a:ext cx="2697480" cy="566928"/>
          </a:xfrm>
          <a:prstGeom prst="rect">
            <a:avLst/>
          </a:prstGeom>
          <a:solidFill>
            <a:srgbClr val="FFFFFF"/>
          </a:solidFill>
          <a:ln w="6350">
            <a:solidFill>
              <a:srgbClr val="D6E4F0"/>
            </a:solidFill>
            <a:prstDash val="solid"/>
          </a:ln>
        </p:spPr>
      </p:sp>
      <p:sp>
        <p:nvSpPr>
          <p:cNvPr id="20" name="Text 18"/>
          <p:cNvSpPr/>
          <p:nvPr/>
        </p:nvSpPr>
        <p:spPr>
          <a:xfrm>
            <a:off x="301752" y="2514600"/>
            <a:ext cx="26060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投入単位</a:t>
            </a:r>
            <a:endParaRPr lang="en-US" sz="1200" dirty="0"/>
          </a:p>
        </p:txBody>
      </p:sp>
      <p:sp>
        <p:nvSpPr>
          <p:cNvPr id="21" name="Shape 19"/>
          <p:cNvSpPr/>
          <p:nvPr/>
        </p:nvSpPr>
        <p:spPr>
          <a:xfrm>
            <a:off x="3063240" y="2514600"/>
            <a:ext cx="4069080" cy="566928"/>
          </a:xfrm>
          <a:prstGeom prst="rect">
            <a:avLst/>
          </a:prstGeom>
          <a:solidFill>
            <a:srgbClr val="FFFFFF"/>
          </a:solidFill>
          <a:ln w="6350">
            <a:solidFill>
              <a:srgbClr val="D6E4F0"/>
            </a:solidFill>
            <a:prstDash val="solid"/>
          </a:ln>
        </p:spPr>
      </p:sp>
      <p:sp>
        <p:nvSpPr>
          <p:cNvPr id="22" name="Text 20"/>
          <p:cNvSpPr/>
          <p:nvPr/>
        </p:nvSpPr>
        <p:spPr>
          <a:xfrm>
            <a:off x="3136392" y="2514600"/>
            <a:ext cx="39776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VA 単位でトークン</a:t>
            </a:r>
            <a:endParaRPr lang="en-US" sz="1200" dirty="0"/>
          </a:p>
        </p:txBody>
      </p:sp>
      <p:sp>
        <p:nvSpPr>
          <p:cNvPr id="23" name="Shape 21"/>
          <p:cNvSpPr/>
          <p:nvPr/>
        </p:nvSpPr>
        <p:spPr>
          <a:xfrm>
            <a:off x="7269480" y="2514600"/>
            <a:ext cx="4069080" cy="566928"/>
          </a:xfrm>
          <a:prstGeom prst="rect">
            <a:avLst/>
          </a:prstGeom>
          <a:solidFill>
            <a:srgbClr val="FFFFFF"/>
          </a:solidFill>
          <a:ln w="6350">
            <a:solidFill>
              <a:srgbClr val="D6E4F0"/>
            </a:solidFill>
            <a:prstDash val="solid"/>
          </a:ln>
        </p:spPr>
      </p:sp>
      <p:sp>
        <p:nvSpPr>
          <p:cNvPr id="24" name="Text 22"/>
          <p:cNvSpPr/>
          <p:nvPr/>
        </p:nvSpPr>
        <p:spPr>
          <a:xfrm>
            <a:off x="7342632" y="2514600"/>
            <a:ext cx="39776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ライセンスキーを Claim</a:t>
            </a:r>
            <a:endParaRPr lang="en-US" sz="1200" dirty="0"/>
          </a:p>
        </p:txBody>
      </p:sp>
      <p:sp>
        <p:nvSpPr>
          <p:cNvPr id="25" name="Shape 23"/>
          <p:cNvSpPr/>
          <p:nvPr/>
        </p:nvSpPr>
        <p:spPr>
          <a:xfrm>
            <a:off x="228600" y="3108960"/>
            <a:ext cx="2697480" cy="566928"/>
          </a:xfrm>
          <a:prstGeom prst="rect">
            <a:avLst/>
          </a:prstGeom>
          <a:solidFill>
            <a:srgbClr val="F0F7FF"/>
          </a:solidFill>
          <a:ln w="6350">
            <a:solidFill>
              <a:srgbClr val="D6E4F0"/>
            </a:solidFill>
            <a:prstDash val="solid"/>
          </a:ln>
        </p:spPr>
      </p:sp>
      <p:sp>
        <p:nvSpPr>
          <p:cNvPr id="26" name="Text 24"/>
          <p:cNvSpPr/>
          <p:nvPr/>
        </p:nvSpPr>
        <p:spPr>
          <a:xfrm>
            <a:off x="301752" y="3108960"/>
            <a:ext cx="26060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消費元</a:t>
            </a:r>
            <a:endParaRPr lang="en-US" sz="1200" dirty="0"/>
          </a:p>
        </p:txBody>
      </p:sp>
      <p:sp>
        <p:nvSpPr>
          <p:cNvPr id="27" name="Shape 25"/>
          <p:cNvSpPr/>
          <p:nvPr/>
        </p:nvSpPr>
        <p:spPr>
          <a:xfrm>
            <a:off x="3063240" y="3108960"/>
            <a:ext cx="4069080" cy="566928"/>
          </a:xfrm>
          <a:prstGeom prst="rect">
            <a:avLst/>
          </a:prstGeom>
          <a:solidFill>
            <a:srgbClr val="F0F7FF"/>
          </a:solidFill>
          <a:ln w="6350">
            <a:solidFill>
              <a:srgbClr val="D6E4F0"/>
            </a:solidFill>
            <a:prstDash val="solid"/>
          </a:ln>
        </p:spPr>
      </p:sp>
      <p:sp>
        <p:nvSpPr>
          <p:cNvPr id="28" name="Text 26"/>
          <p:cNvSpPr/>
          <p:nvPr/>
        </p:nvSpPr>
        <p:spPr>
          <a:xfrm>
            <a:off x="3136392" y="3108960"/>
            <a:ext cx="39776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VA のプール</a:t>
            </a:r>
            <a:endParaRPr lang="en-US" sz="1200" dirty="0"/>
          </a:p>
        </p:txBody>
      </p:sp>
      <p:sp>
        <p:nvSpPr>
          <p:cNvPr id="29" name="Shape 27"/>
          <p:cNvSpPr/>
          <p:nvPr/>
        </p:nvSpPr>
        <p:spPr>
          <a:xfrm>
            <a:off x="7269480" y="3108960"/>
            <a:ext cx="4069080" cy="566928"/>
          </a:xfrm>
          <a:prstGeom prst="rect">
            <a:avLst/>
          </a:prstGeom>
          <a:solidFill>
            <a:srgbClr val="F0F7FF"/>
          </a:solidFill>
          <a:ln w="6350">
            <a:solidFill>
              <a:srgbClr val="D6E4F0"/>
            </a:solidFill>
            <a:prstDash val="solid"/>
          </a:ln>
        </p:spPr>
      </p:sp>
      <p:sp>
        <p:nvSpPr>
          <p:cNvPr id="30" name="Text 28"/>
          <p:cNvSpPr/>
          <p:nvPr/>
        </p:nvSpPr>
        <p:spPr>
          <a:xfrm>
            <a:off x="7342632" y="3108960"/>
            <a:ext cx="3977640" cy="566928"/>
          </a:xfrm>
          <a:prstGeom prst="rect">
            <a:avLst/>
          </a:prstGeom>
          <a:noFill/>
          <a:ln/>
        </p:spPr>
        <p:txBody>
          <a:bodyPr wrap="square" lIns="0" tIns="0" rIns="0" bIns="0" rtlCol="0" anchor="ctr"/>
          <a:lstStyle/>
          <a:p>
            <a:pPr algn="l" indent="0" marL="0">
              <a:buNone/>
            </a:pPr>
            <a:r>
              <a:rPr lang="en-US" sz="1200" dirty="0">
                <a:solidFill>
                  <a:srgbClr val="4A6080"/>
                </a:solidFill>
                <a:latin typeface="Calibri" pitchFamily="34" charset="0"/>
                <a:ea typeface="Calibri" pitchFamily="34" charset="-122"/>
                <a:cs typeface="Calibri" pitchFamily="34" charset="-120"/>
              </a:rPr>
              <a:t>組織 または デバイス</a:t>
            </a:r>
            <a:endParaRPr lang="en-US" sz="1200" dirty="0"/>
          </a:p>
        </p:txBody>
      </p:sp>
      <p:sp>
        <p:nvSpPr>
          <p:cNvPr id="31" name="Text 29"/>
          <p:cNvSpPr/>
          <p:nvPr/>
        </p:nvSpPr>
        <p:spPr>
          <a:xfrm>
            <a:off x="228600" y="3840480"/>
            <a:ext cx="7315200" cy="384048"/>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ダッシュボードでの投入（Claim）の流れ</a:t>
            </a:r>
            <a:endParaRPr lang="en-US" sz="1400" dirty="0"/>
          </a:p>
        </p:txBody>
      </p:sp>
      <p:sp>
        <p:nvSpPr>
          <p:cNvPr id="32" name="Shape 30"/>
          <p:cNvSpPr/>
          <p:nvPr/>
        </p:nvSpPr>
        <p:spPr>
          <a:xfrm>
            <a:off x="228600" y="4315968"/>
            <a:ext cx="502920" cy="502920"/>
          </a:xfrm>
          <a:prstGeom prst="ellipse">
            <a:avLst/>
          </a:prstGeom>
          <a:solidFill>
            <a:srgbClr val="2E86C1"/>
          </a:solidFill>
          <a:ln/>
        </p:spPr>
      </p:sp>
      <p:sp>
        <p:nvSpPr>
          <p:cNvPr id="33" name="Text 31"/>
          <p:cNvSpPr/>
          <p:nvPr/>
        </p:nvSpPr>
        <p:spPr>
          <a:xfrm>
            <a:off x="228600" y="431596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4" name="Text 32"/>
          <p:cNvSpPr/>
          <p:nvPr/>
        </p:nvSpPr>
        <p:spPr>
          <a:xfrm>
            <a:off x="822960" y="4343400"/>
            <a:ext cx="301752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キーを入手</a:t>
            </a:r>
            <a:endParaRPr lang="en-US" sz="1200" dirty="0"/>
          </a:p>
        </p:txBody>
      </p:sp>
      <p:sp>
        <p:nvSpPr>
          <p:cNvPr id="35" name="Text 33"/>
          <p:cNvSpPr/>
          <p:nvPr/>
        </p:nvSpPr>
        <p:spPr>
          <a:xfrm>
            <a:off x="822960" y="4727448"/>
            <a:ext cx="3017520" cy="64008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発注でライセンスキー＋注文番号を受領（1/3/5/7/10 年）。</a:t>
            </a:r>
            <a:endParaRPr lang="en-US" sz="1100" dirty="0"/>
          </a:p>
        </p:txBody>
      </p:sp>
      <p:sp>
        <p:nvSpPr>
          <p:cNvPr id="36" name="Shape 34"/>
          <p:cNvSpPr/>
          <p:nvPr/>
        </p:nvSpPr>
        <p:spPr>
          <a:xfrm>
            <a:off x="4023360" y="4315968"/>
            <a:ext cx="502920" cy="502920"/>
          </a:xfrm>
          <a:prstGeom prst="ellipse">
            <a:avLst/>
          </a:prstGeom>
          <a:solidFill>
            <a:srgbClr val="2E86C1"/>
          </a:solidFill>
          <a:ln/>
        </p:spPr>
      </p:sp>
      <p:sp>
        <p:nvSpPr>
          <p:cNvPr id="37" name="Text 35"/>
          <p:cNvSpPr/>
          <p:nvPr/>
        </p:nvSpPr>
        <p:spPr>
          <a:xfrm>
            <a:off x="4023360" y="431596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8" name="Text 36"/>
          <p:cNvSpPr/>
          <p:nvPr/>
        </p:nvSpPr>
        <p:spPr>
          <a:xfrm>
            <a:off x="4617720" y="4343400"/>
            <a:ext cx="301752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組織に Claim</a:t>
            </a:r>
            <a:endParaRPr lang="en-US" sz="1200" dirty="0"/>
          </a:p>
        </p:txBody>
      </p:sp>
      <p:sp>
        <p:nvSpPr>
          <p:cNvPr id="39" name="Text 37"/>
          <p:cNvSpPr/>
          <p:nvPr/>
        </p:nvSpPr>
        <p:spPr>
          <a:xfrm>
            <a:off x="4617720" y="4727448"/>
            <a:ext cx="3017520" cy="64008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Organization &gt; License Info でキーを登録する。</a:t>
            </a:r>
            <a:endParaRPr lang="en-US" sz="1100" dirty="0"/>
          </a:p>
        </p:txBody>
      </p:sp>
      <p:sp>
        <p:nvSpPr>
          <p:cNvPr id="40" name="Shape 38"/>
          <p:cNvSpPr/>
          <p:nvPr/>
        </p:nvSpPr>
        <p:spPr>
          <a:xfrm>
            <a:off x="7818120" y="4315968"/>
            <a:ext cx="502920" cy="502920"/>
          </a:xfrm>
          <a:prstGeom prst="ellipse">
            <a:avLst/>
          </a:prstGeom>
          <a:solidFill>
            <a:srgbClr val="2E86C1"/>
          </a:solidFill>
          <a:ln/>
        </p:spPr>
      </p:sp>
      <p:sp>
        <p:nvSpPr>
          <p:cNvPr id="41" name="Text 39"/>
          <p:cNvSpPr/>
          <p:nvPr/>
        </p:nvSpPr>
        <p:spPr>
          <a:xfrm>
            <a:off x="7818120" y="431596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2" name="Text 40"/>
          <p:cNvSpPr/>
          <p:nvPr/>
        </p:nvSpPr>
        <p:spPr>
          <a:xfrm>
            <a:off x="8412480" y="4343400"/>
            <a:ext cx="301752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割り当て</a:t>
            </a:r>
            <a:endParaRPr lang="en-US" sz="1200" dirty="0"/>
          </a:p>
        </p:txBody>
      </p:sp>
      <p:sp>
        <p:nvSpPr>
          <p:cNvPr id="43" name="Text 41"/>
          <p:cNvSpPr/>
          <p:nvPr/>
        </p:nvSpPr>
        <p:spPr>
          <a:xfrm>
            <a:off x="8412480" y="4727448"/>
            <a:ext cx="3017520" cy="64008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PDL はデバイス/NW へ割当、Co-term は共通期限に統合。</a:t>
            </a:r>
            <a:endParaRPr lang="en-US" sz="1100" dirty="0"/>
          </a:p>
        </p:txBody>
      </p:sp>
      <p:sp>
        <p:nvSpPr>
          <p:cNvPr id="44" name="Shape 42"/>
          <p:cNvSpPr/>
          <p:nvPr/>
        </p:nvSpPr>
        <p:spPr>
          <a:xfrm>
            <a:off x="228600" y="5486400"/>
            <a:ext cx="11521440" cy="640080"/>
          </a:xfrm>
          <a:prstGeom prst="roundRect">
            <a:avLst>
              <a:gd name="adj" fmla="val 8571"/>
            </a:avLst>
          </a:prstGeom>
          <a:solidFill>
            <a:srgbClr val="FEF9E7"/>
          </a:solidFill>
          <a:ln w="12700">
            <a:solidFill>
              <a:srgbClr val="E67E22"/>
            </a:solidFill>
            <a:prstDash val="solid"/>
          </a:ln>
        </p:spPr>
      </p:sp>
      <p:sp>
        <p:nvSpPr>
          <p:cNvPr id="45" name="Text 43"/>
          <p:cNvSpPr/>
          <p:nvPr/>
        </p:nvSpPr>
        <p:spPr>
          <a:xfrm>
            <a:off x="365760" y="5532120"/>
            <a:ext cx="11155680" cy="548640"/>
          </a:xfrm>
          <a:prstGeom prst="rect">
            <a:avLst/>
          </a:prstGeom>
          <a:noFill/>
          <a:ln/>
        </p:spPr>
        <p:txBody>
          <a:bodyPr wrap="square" lIns="0" tIns="0" rIns="0" bIns="0" rtlCol="0" anchor="ctr"/>
          <a:lstStyle/>
          <a:p>
            <a:pPr indent="0" marL="0">
              <a:buNone/>
            </a:pPr>
            <a:r>
              <a:rPr lang="en-US" sz="1100" dirty="0">
                <a:solidFill>
                  <a:srgbClr val="7D4E00"/>
                </a:solidFill>
                <a:latin typeface="Calibri" pitchFamily="34" charset="0"/>
                <a:ea typeface="Calibri" pitchFamily="34" charset="-122"/>
                <a:cs typeface="Calibri" pitchFamily="34" charset="-120"/>
              </a:rPr>
              <a:t>⚠️  機器本体では操作しない ── スイッチは組織に追加してオンラインなら、適用も失効もクラウド側から制御される。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APPENDIX ｜ 番外編</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Meraki のライセンス種類</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① ライセンスモデル（3 種） ─ 1 組織につき 1 モデル。デフォルトは Co-term</a:t>
            </a:r>
            <a:endParaRPr lang="en-US" sz="1200" dirty="0"/>
          </a:p>
        </p:txBody>
      </p:sp>
      <p:sp>
        <p:nvSpPr>
          <p:cNvPr id="7" name="Shape 5"/>
          <p:cNvSpPr/>
          <p:nvPr/>
        </p:nvSpPr>
        <p:spPr>
          <a:xfrm>
            <a:off x="228600" y="1417320"/>
            <a:ext cx="3749040" cy="1920240"/>
          </a:xfrm>
          <a:prstGeom prst="roundRect">
            <a:avLst>
              <a:gd name="adj" fmla="val 3810"/>
            </a:avLst>
          </a:prstGeom>
          <a:solidFill>
            <a:srgbClr val="D6EAF8"/>
          </a:solidFill>
          <a:ln w="12700">
            <a:solidFill>
              <a:srgbClr val="D6E4F0"/>
            </a:solidFill>
            <a:prstDash val="solid"/>
          </a:ln>
        </p:spPr>
      </p:sp>
      <p:sp>
        <p:nvSpPr>
          <p:cNvPr id="8" name="Text 6"/>
          <p:cNvSpPr/>
          <p:nvPr/>
        </p:nvSpPr>
        <p:spPr>
          <a:xfrm>
            <a:off x="320040" y="1508760"/>
            <a:ext cx="35661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Subscription</a:t>
            </a:r>
            <a:endParaRPr lang="en-US" sz="1300" dirty="0"/>
          </a:p>
        </p:txBody>
      </p:sp>
      <p:sp>
        <p:nvSpPr>
          <p:cNvPr id="9" name="Text 7"/>
          <p:cNvSpPr/>
          <p:nvPr/>
        </p:nvSpPr>
        <p:spPr>
          <a:xfrm>
            <a:off x="320040" y="1920240"/>
            <a:ext cx="3566160" cy="128016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サブスクリプション型。2024 年以降に拡充された新しいモデル。</a:t>
            </a:r>
            <a:endParaRPr lang="en-US" sz="1100" dirty="0"/>
          </a:p>
        </p:txBody>
      </p:sp>
      <p:sp>
        <p:nvSpPr>
          <p:cNvPr id="10" name="Shape 8"/>
          <p:cNvSpPr/>
          <p:nvPr/>
        </p:nvSpPr>
        <p:spPr>
          <a:xfrm>
            <a:off x="4160520" y="1417320"/>
            <a:ext cx="3749040" cy="1920240"/>
          </a:xfrm>
          <a:prstGeom prst="roundRect">
            <a:avLst>
              <a:gd name="adj" fmla="val 3810"/>
            </a:avLst>
          </a:prstGeom>
          <a:solidFill>
            <a:srgbClr val="D5F5E3"/>
          </a:solidFill>
          <a:ln w="12700">
            <a:solidFill>
              <a:srgbClr val="D6E4F0"/>
            </a:solidFill>
            <a:prstDash val="solid"/>
          </a:ln>
        </p:spPr>
      </p:sp>
      <p:sp>
        <p:nvSpPr>
          <p:cNvPr id="11" name="Text 9"/>
          <p:cNvSpPr/>
          <p:nvPr/>
        </p:nvSpPr>
        <p:spPr>
          <a:xfrm>
            <a:off x="4251960" y="1508760"/>
            <a:ext cx="35661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Co-termination</a:t>
            </a:r>
            <a:endParaRPr lang="en-US" sz="1300" dirty="0"/>
          </a:p>
        </p:txBody>
      </p:sp>
      <p:sp>
        <p:nvSpPr>
          <p:cNvPr id="12" name="Text 10"/>
          <p:cNvSpPr/>
          <p:nvPr/>
        </p:nvSpPr>
        <p:spPr>
          <a:xfrm>
            <a:off x="4251960" y="1920240"/>
            <a:ext cx="3566160" cy="128016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組織で共通の有効期限に統合。既定モデル。台数追加も同一期限に。</a:t>
            </a:r>
            <a:endParaRPr lang="en-US" sz="1100" dirty="0"/>
          </a:p>
        </p:txBody>
      </p:sp>
      <p:sp>
        <p:nvSpPr>
          <p:cNvPr id="13" name="Shape 11"/>
          <p:cNvSpPr/>
          <p:nvPr/>
        </p:nvSpPr>
        <p:spPr>
          <a:xfrm>
            <a:off x="8092440" y="1417320"/>
            <a:ext cx="3749040" cy="1920240"/>
          </a:xfrm>
          <a:prstGeom prst="roundRect">
            <a:avLst>
              <a:gd name="adj" fmla="val 3810"/>
            </a:avLst>
          </a:prstGeom>
          <a:solidFill>
            <a:srgbClr val="FEF9E7"/>
          </a:solidFill>
          <a:ln w="12700">
            <a:solidFill>
              <a:srgbClr val="D6E4F0"/>
            </a:solidFill>
            <a:prstDash val="solid"/>
          </a:ln>
        </p:spPr>
      </p:sp>
      <p:sp>
        <p:nvSpPr>
          <p:cNvPr id="14" name="Text 12"/>
          <p:cNvSpPr/>
          <p:nvPr/>
        </p:nvSpPr>
        <p:spPr>
          <a:xfrm>
            <a:off x="8183880" y="1508760"/>
            <a:ext cx="35661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Per-Device（PDL）</a:t>
            </a:r>
            <a:endParaRPr lang="en-US" sz="1300" dirty="0"/>
          </a:p>
        </p:txBody>
      </p:sp>
      <p:sp>
        <p:nvSpPr>
          <p:cNvPr id="15" name="Text 13"/>
          <p:cNvSpPr/>
          <p:nvPr/>
        </p:nvSpPr>
        <p:spPr>
          <a:xfrm>
            <a:off x="8183880" y="1920240"/>
            <a:ext cx="3566160" cy="1280160"/>
          </a:xfrm>
          <a:prstGeom prst="rect">
            <a:avLst/>
          </a:prstGeom>
          <a:noFill/>
          <a:ln/>
        </p:spPr>
        <p:txBody>
          <a:bodyPr wrap="square" lIns="0" tIns="0" rIns="0" bIns="0" rtlCol="0" anchor="ctr"/>
          <a:lstStyle/>
          <a:p>
            <a:pPr algn="ctr" indent="0" marL="0">
              <a:buNone/>
            </a:pPr>
            <a:r>
              <a:rPr lang="en-US" sz="1100" dirty="0">
                <a:solidFill>
                  <a:srgbClr val="4A6080"/>
                </a:solidFill>
                <a:latin typeface="Calibri" pitchFamily="34" charset="0"/>
                <a:ea typeface="Calibri" pitchFamily="34" charset="-122"/>
                <a:cs typeface="Calibri" pitchFamily="34" charset="-120"/>
              </a:rPr>
              <a:t>ライセンスをデバイス/NW に直接割当。期限を個別管理も可能。</a:t>
            </a:r>
            <a:endParaRPr lang="en-US" sz="1100" dirty="0"/>
          </a:p>
        </p:txBody>
      </p:sp>
      <p:sp>
        <p:nvSpPr>
          <p:cNvPr id="16" name="Text 14"/>
          <p:cNvSpPr/>
          <p:nvPr/>
        </p:nvSpPr>
        <p:spPr>
          <a:xfrm>
            <a:off x="228600" y="3383280"/>
            <a:ext cx="10972800" cy="320040"/>
          </a:xfrm>
          <a:prstGeom prst="rect">
            <a:avLst/>
          </a:prstGeom>
          <a:noFill/>
          <a:ln/>
        </p:spPr>
        <p:txBody>
          <a:bodyPr wrap="square" lIns="0" tIns="0" rIns="0" bIns="0" rtlCol="0" anchor="ctr"/>
          <a:lstStyle/>
          <a:p>
            <a:pPr indent="0" marL="0">
              <a:buNone/>
            </a:pPr>
            <a:r>
              <a:rPr lang="en-US" sz="1000" dirty="0">
                <a:solidFill>
                  <a:srgbClr val="C0392B"/>
                </a:solidFill>
                <a:latin typeface="Calibri" pitchFamily="34" charset="0"/>
                <a:ea typeface="Calibri" pitchFamily="34" charset="-122"/>
                <a:cs typeface="Calibri" pitchFamily="34" charset="-120"/>
              </a:rPr>
              <a:t>※ PDL → Co-term への変更は不可（永続的）</a:t>
            </a:r>
            <a:endParaRPr lang="en-US" sz="1000" dirty="0"/>
          </a:p>
        </p:txBody>
      </p:sp>
      <p:sp>
        <p:nvSpPr>
          <p:cNvPr id="17" name="Text 15"/>
          <p:cNvSpPr/>
          <p:nvPr/>
        </p:nvSpPr>
        <p:spPr>
          <a:xfrm>
            <a:off x="182880" y="3749040"/>
            <a:ext cx="1097280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② スイッチ（MS）の要点</a:t>
            </a:r>
            <a:endParaRPr lang="en-US" sz="1200" dirty="0"/>
          </a:p>
        </p:txBody>
      </p:sp>
      <p:sp>
        <p:nvSpPr>
          <p:cNvPr id="18" name="Shape 16"/>
          <p:cNvSpPr/>
          <p:nvPr/>
        </p:nvSpPr>
        <p:spPr>
          <a:xfrm>
            <a:off x="228600" y="4160520"/>
            <a:ext cx="5669280" cy="1508760"/>
          </a:xfrm>
          <a:prstGeom prst="roundRect">
            <a:avLst>
              <a:gd name="adj" fmla="val 4242"/>
            </a:avLst>
          </a:prstGeom>
          <a:solidFill>
            <a:srgbClr val="F0F7FF"/>
          </a:solidFill>
          <a:ln w="12700">
            <a:solidFill>
              <a:srgbClr val="D6E4F0"/>
            </a:solidFill>
            <a:prstDash val="solid"/>
          </a:ln>
        </p:spPr>
      </p:sp>
      <p:sp>
        <p:nvSpPr>
          <p:cNvPr id="19" name="Text 17"/>
          <p:cNvSpPr/>
          <p:nvPr/>
        </p:nvSpPr>
        <p:spPr>
          <a:xfrm>
            <a:off x="365760" y="4251960"/>
            <a:ext cx="539496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モデル単位（型番ごと）</a:t>
            </a:r>
            <a:endParaRPr lang="en-US" sz="1200" dirty="0"/>
          </a:p>
        </p:txBody>
      </p:sp>
      <p:sp>
        <p:nvSpPr>
          <p:cNvPr id="20" name="Text 18"/>
          <p:cNvSpPr/>
          <p:nvPr/>
        </p:nvSpPr>
        <p:spPr>
          <a:xfrm>
            <a:off x="365760" y="4617720"/>
            <a:ext cx="5394960" cy="100584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各 MS モデルに対応ライセンスがあり、機種間で移し替え不可（例: LIC-MS120-48LP-3YR）。MR のような全機種共通ではない。</a:t>
            </a:r>
            <a:endParaRPr lang="en-US" sz="1100" dirty="0"/>
          </a:p>
        </p:txBody>
      </p:sp>
      <p:sp>
        <p:nvSpPr>
          <p:cNvPr id="21" name="Shape 19"/>
          <p:cNvSpPr/>
          <p:nvPr/>
        </p:nvSpPr>
        <p:spPr>
          <a:xfrm>
            <a:off x="6126480" y="4160520"/>
            <a:ext cx="5669280" cy="1508760"/>
          </a:xfrm>
          <a:prstGeom prst="roundRect">
            <a:avLst>
              <a:gd name="adj" fmla="val 4242"/>
            </a:avLst>
          </a:prstGeom>
          <a:solidFill>
            <a:srgbClr val="F0F7FF"/>
          </a:solidFill>
          <a:ln w="12700">
            <a:solidFill>
              <a:srgbClr val="D6E4F0"/>
            </a:solidFill>
            <a:prstDash val="solid"/>
          </a:ln>
        </p:spPr>
      </p:sp>
      <p:sp>
        <p:nvSpPr>
          <p:cNvPr id="22" name="Text 20"/>
          <p:cNvSpPr/>
          <p:nvPr/>
        </p:nvSpPr>
        <p:spPr>
          <a:xfrm>
            <a:off x="6263640" y="4251960"/>
            <a:ext cx="5394960" cy="36576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2 ティア構成</a:t>
            </a:r>
            <a:endParaRPr lang="en-US" sz="1200" dirty="0"/>
          </a:p>
        </p:txBody>
      </p:sp>
      <p:sp>
        <p:nvSpPr>
          <p:cNvPr id="23" name="Text 21"/>
          <p:cNvSpPr/>
          <p:nvPr/>
        </p:nvSpPr>
        <p:spPr>
          <a:xfrm>
            <a:off x="6263640" y="4617720"/>
            <a:ext cx="5394960" cy="1005840"/>
          </a:xfrm>
          <a:prstGeom prst="rect">
            <a:avLst/>
          </a:prstGeom>
          <a:noFill/>
          <a:ln/>
        </p:spPr>
        <p:txBody>
          <a:bodyPr wrap="square" lIns="0" tIns="0" rIns="0" bIns="0" rtlCol="0" anchor="ctr"/>
          <a:lstStyle/>
          <a:p>
            <a:pPr indent="0" marL="0">
              <a:buNone/>
            </a:pPr>
            <a:r>
              <a:rPr lang="en-US" sz="1100" dirty="0">
                <a:solidFill>
                  <a:srgbClr val="4A6080"/>
                </a:solidFill>
                <a:latin typeface="Calibri" pitchFamily="34" charset="0"/>
                <a:ea typeface="Calibri" pitchFamily="34" charset="-122"/>
                <a:cs typeface="Calibri" pitchFamily="34" charset="-120"/>
              </a:rPr>
              <a:t>Enterprise と Advanced（Advanced は一部モデルのみ）。スイッチ/ワイヤレスは組織内でティア混在不可。</a:t>
            </a:r>
            <a:endParaRPr lang="en-US" sz="1100" dirty="0"/>
          </a:p>
        </p:txBody>
      </p:sp>
      <p:sp>
        <p:nvSpPr>
          <p:cNvPr id="24" name="Shape 22"/>
          <p:cNvSpPr/>
          <p:nvPr/>
        </p:nvSpPr>
        <p:spPr>
          <a:xfrm>
            <a:off x="228600" y="5760720"/>
            <a:ext cx="11521440" cy="640080"/>
          </a:xfrm>
          <a:prstGeom prst="roundRect">
            <a:avLst>
              <a:gd name="adj" fmla="val 8571"/>
            </a:avLst>
          </a:prstGeom>
          <a:solidFill>
            <a:srgbClr val="FDEDEC"/>
          </a:solidFill>
          <a:ln w="12700">
            <a:solidFill>
              <a:srgbClr val="C0392B"/>
            </a:solidFill>
            <a:prstDash val="solid"/>
          </a:ln>
        </p:spPr>
      </p:sp>
      <p:sp>
        <p:nvSpPr>
          <p:cNvPr id="25" name="Text 23"/>
          <p:cNvSpPr/>
          <p:nvPr/>
        </p:nvSpPr>
        <p:spPr>
          <a:xfrm>
            <a:off x="365760" y="5806440"/>
            <a:ext cx="11155680" cy="548640"/>
          </a:xfrm>
          <a:prstGeom prst="rect">
            <a:avLst/>
          </a:prstGeom>
          <a:noFill/>
          <a:ln/>
        </p:spPr>
        <p:txBody>
          <a:bodyPr wrap="square" lIns="0" tIns="0" rIns="0" bIns="0" rtlCol="0" anchor="ctr"/>
          <a:lstStyle/>
          <a:p>
            <a:pPr indent="0" marL="0">
              <a:buNone/>
            </a:pPr>
            <a:r>
              <a:rPr lang="en-US" sz="1100" dirty="0">
                <a:solidFill>
                  <a:srgbClr val="C0392B"/>
                </a:solidFill>
                <a:latin typeface="Calibri" pitchFamily="34" charset="0"/>
                <a:ea typeface="Calibri" pitchFamily="34" charset="-122"/>
                <a:cs typeface="Calibri" pitchFamily="34" charset="-120"/>
              </a:rPr>
              <a:t>⚠️  失効後は 30 日の猶予期間。過ぎるとハードストップでデバイス停止（Co-term は組織共通、PDL はデバイス個別の期限）。</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3A5F"/>
          </a:solidFill>
          <a:ln/>
        </p:spPr>
      </p:sp>
      <p:sp>
        <p:nvSpPr>
          <p:cNvPr id="3" name="Shape 1"/>
          <p:cNvSpPr/>
          <p:nvPr/>
        </p:nvSpPr>
        <p:spPr>
          <a:xfrm>
            <a:off x="0" y="0"/>
            <a:ext cx="73152" cy="6858000"/>
          </a:xfrm>
          <a:prstGeom prst="rect">
            <a:avLst/>
          </a:prstGeom>
          <a:solidFill>
            <a:srgbClr val="2E86C1"/>
          </a:solidFill>
          <a:ln/>
        </p:spPr>
      </p:sp>
      <p:sp>
        <p:nvSpPr>
          <p:cNvPr id="4" name="Text 2"/>
          <p:cNvSpPr/>
          <p:nvPr/>
        </p:nvSpPr>
        <p:spPr>
          <a:xfrm>
            <a:off x="182880" y="45720"/>
            <a:ext cx="5486400" cy="274320"/>
          </a:xfrm>
          <a:prstGeom prst="rect">
            <a:avLst/>
          </a:prstGeom>
          <a:noFill/>
          <a:ln/>
        </p:spPr>
        <p:txBody>
          <a:bodyPr wrap="square" lIns="0" tIns="0" rIns="0" bIns="0" rtlCol="0" anchor="ctr"/>
          <a:lstStyle/>
          <a:p>
            <a:pPr algn="l" indent="0" marL="0">
              <a:buNone/>
            </a:pPr>
            <a:r>
              <a:rPr lang="en-US" sz="1000" b="1" dirty="0">
                <a:solidFill>
                  <a:srgbClr val="5DADE2"/>
                </a:solidFill>
                <a:latin typeface="Calibri" pitchFamily="34" charset="0"/>
                <a:ea typeface="Calibri" pitchFamily="34" charset="-122"/>
                <a:cs typeface="Calibri" pitchFamily="34" charset="-120"/>
              </a:rPr>
              <a:t>APPENDIX ｜ 番外編</a:t>
            </a:r>
            <a:endParaRPr lang="en-US" sz="1000" dirty="0"/>
          </a:p>
        </p:txBody>
      </p:sp>
      <p:sp>
        <p:nvSpPr>
          <p:cNvPr id="5" name="Text 3"/>
          <p:cNvSpPr/>
          <p:nvPr/>
        </p:nvSpPr>
        <p:spPr>
          <a:xfrm>
            <a:off x="182880" y="274320"/>
            <a:ext cx="1170432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SA で管理できる／できない と 投入方法</a:t>
            </a:r>
            <a:endParaRPr lang="en-US" sz="2600" dirty="0"/>
          </a:p>
        </p:txBody>
      </p:sp>
      <p:sp>
        <p:nvSpPr>
          <p:cNvPr id="6" name="Text 4"/>
          <p:cNvSpPr/>
          <p:nvPr/>
        </p:nvSpPr>
        <p:spPr>
          <a:xfrm>
            <a:off x="182880" y="960120"/>
            <a:ext cx="11795760" cy="365760"/>
          </a:xfrm>
          <a:prstGeom prst="rect">
            <a:avLst/>
          </a:prstGeom>
          <a:noFill/>
          <a:ln/>
        </p:spPr>
        <p:txBody>
          <a:bodyPr wrap="square" lIns="0" tIns="0" rIns="0" bIns="0" rtlCol="0" anchor="ctr"/>
          <a:lstStyle/>
          <a:p>
            <a:pPr indent="0" marL="0">
              <a:buNone/>
            </a:pPr>
            <a:r>
              <a:rPr lang="en-US" sz="1200" dirty="0">
                <a:solidFill>
                  <a:srgbClr val="4A6080"/>
                </a:solidFill>
                <a:latin typeface="Calibri" pitchFamily="34" charset="0"/>
                <a:ea typeface="Calibri" pitchFamily="34" charset="-122"/>
                <a:cs typeface="Calibri" pitchFamily="34" charset="-120"/>
              </a:rPr>
              <a:t>本質は「組織（SA）に紐づくか、機器・ダッシュボードに固定されるか」</a:t>
            </a:r>
            <a:endParaRPr lang="en-US" sz="1200" dirty="0"/>
          </a:p>
        </p:txBody>
      </p:sp>
      <p:sp>
        <p:nvSpPr>
          <p:cNvPr id="7" name="Shape 5"/>
          <p:cNvSpPr/>
          <p:nvPr/>
        </p:nvSpPr>
        <p:spPr>
          <a:xfrm>
            <a:off x="182880" y="1389888"/>
            <a:ext cx="4069080" cy="457200"/>
          </a:xfrm>
          <a:prstGeom prst="rect">
            <a:avLst/>
          </a:prstGeom>
          <a:solidFill>
            <a:srgbClr val="1E3A5F"/>
          </a:solidFill>
          <a:ln/>
        </p:spPr>
      </p:sp>
      <p:sp>
        <p:nvSpPr>
          <p:cNvPr id="8" name="Text 6"/>
          <p:cNvSpPr/>
          <p:nvPr/>
        </p:nvSpPr>
        <p:spPr>
          <a:xfrm>
            <a:off x="228600" y="1389888"/>
            <a:ext cx="40233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ライセンス種別</a:t>
            </a:r>
            <a:endParaRPr lang="en-US" sz="1100" dirty="0"/>
          </a:p>
        </p:txBody>
      </p:sp>
      <p:sp>
        <p:nvSpPr>
          <p:cNvPr id="9" name="Shape 7"/>
          <p:cNvSpPr/>
          <p:nvPr/>
        </p:nvSpPr>
        <p:spPr>
          <a:xfrm>
            <a:off x="4343400" y="1389888"/>
            <a:ext cx="1051560" cy="457200"/>
          </a:xfrm>
          <a:prstGeom prst="rect">
            <a:avLst/>
          </a:prstGeom>
          <a:solidFill>
            <a:srgbClr val="1E3A5F"/>
          </a:solidFill>
          <a:ln/>
        </p:spPr>
      </p:sp>
      <p:sp>
        <p:nvSpPr>
          <p:cNvPr id="10" name="Text 8"/>
          <p:cNvSpPr/>
          <p:nvPr/>
        </p:nvSpPr>
        <p:spPr>
          <a:xfrm>
            <a:off x="4389120" y="1389888"/>
            <a:ext cx="10058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 で管理</a:t>
            </a:r>
            <a:endParaRPr lang="en-US" sz="1100" dirty="0"/>
          </a:p>
        </p:txBody>
      </p:sp>
      <p:sp>
        <p:nvSpPr>
          <p:cNvPr id="11" name="Shape 9"/>
          <p:cNvSpPr/>
          <p:nvPr/>
        </p:nvSpPr>
        <p:spPr>
          <a:xfrm>
            <a:off x="5486400" y="1389888"/>
            <a:ext cx="4160520" cy="457200"/>
          </a:xfrm>
          <a:prstGeom prst="rect">
            <a:avLst/>
          </a:prstGeom>
          <a:solidFill>
            <a:srgbClr val="1E3A5F"/>
          </a:solidFill>
          <a:ln/>
        </p:spPr>
      </p:sp>
      <p:sp>
        <p:nvSpPr>
          <p:cNvPr id="12" name="Text 10"/>
          <p:cNvSpPr/>
          <p:nvPr/>
        </p:nvSpPr>
        <p:spPr>
          <a:xfrm>
            <a:off x="5532120" y="1389888"/>
            <a:ext cx="41148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機器への投入方法</a:t>
            </a:r>
            <a:endParaRPr lang="en-US" sz="1100" dirty="0"/>
          </a:p>
        </p:txBody>
      </p:sp>
      <p:sp>
        <p:nvSpPr>
          <p:cNvPr id="13" name="Shape 11"/>
          <p:cNvSpPr/>
          <p:nvPr/>
        </p:nvSpPr>
        <p:spPr>
          <a:xfrm>
            <a:off x="9738360" y="1389888"/>
            <a:ext cx="2514600" cy="457200"/>
          </a:xfrm>
          <a:prstGeom prst="rect">
            <a:avLst/>
          </a:prstGeom>
          <a:solidFill>
            <a:srgbClr val="1E3A5F"/>
          </a:solidFill>
          <a:ln/>
        </p:spPr>
      </p:sp>
      <p:sp>
        <p:nvSpPr>
          <p:cNvPr id="14" name="Text 12"/>
          <p:cNvSpPr/>
          <p:nvPr/>
        </p:nvSpPr>
        <p:spPr>
          <a:xfrm>
            <a:off x="9784080" y="1389888"/>
            <a:ext cx="2468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紐づく先</a:t>
            </a:r>
            <a:endParaRPr lang="en-US" sz="1100" dirty="0"/>
          </a:p>
        </p:txBody>
      </p:sp>
      <p:sp>
        <p:nvSpPr>
          <p:cNvPr id="15" name="Shape 13"/>
          <p:cNvSpPr/>
          <p:nvPr/>
        </p:nvSpPr>
        <p:spPr>
          <a:xfrm>
            <a:off x="182880" y="1892808"/>
            <a:ext cx="4069080" cy="777240"/>
          </a:xfrm>
          <a:prstGeom prst="rect">
            <a:avLst/>
          </a:prstGeom>
          <a:solidFill>
            <a:srgbClr val="F0F7FF"/>
          </a:solidFill>
          <a:ln w="6350">
            <a:solidFill>
              <a:srgbClr val="D6E4F0"/>
            </a:solidFill>
            <a:prstDash val="solid"/>
          </a:ln>
        </p:spPr>
      </p:sp>
      <p:sp>
        <p:nvSpPr>
          <p:cNvPr id="16" name="Text 14"/>
          <p:cNvSpPr/>
          <p:nvPr/>
        </p:nvSpPr>
        <p:spPr>
          <a:xfrm>
            <a:off x="246888" y="1892808"/>
            <a:ext cx="400507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Smart Licensing / SLP</a:t>
            </a:r>
            <a:endParaRPr lang="en-US" sz="1000" dirty="0"/>
          </a:p>
          <a:p>
            <a:pPr algn="l" indent="0" marL="0">
              <a:buNone/>
            </a:pPr>
            <a:r>
              <a:rPr lang="en-US" sz="1000" dirty="0">
                <a:solidFill>
                  <a:srgbClr val="4A6080"/>
                </a:solidFill>
                <a:latin typeface="Calibri" pitchFamily="34" charset="0"/>
                <a:ea typeface="Calibri" pitchFamily="34" charset="-122"/>
                <a:cs typeface="Calibri" pitchFamily="34" charset="-120"/>
              </a:rPr>
              <a:t>Catalyst・IOS-XE 等</a:t>
            </a:r>
            <a:endParaRPr lang="en-US" sz="1000" dirty="0"/>
          </a:p>
        </p:txBody>
      </p:sp>
      <p:sp>
        <p:nvSpPr>
          <p:cNvPr id="17" name="Shape 15"/>
          <p:cNvSpPr/>
          <p:nvPr/>
        </p:nvSpPr>
        <p:spPr>
          <a:xfrm>
            <a:off x="4343400" y="1892808"/>
            <a:ext cx="1051560" cy="777240"/>
          </a:xfrm>
          <a:prstGeom prst="rect">
            <a:avLst/>
          </a:prstGeom>
          <a:solidFill>
            <a:srgbClr val="F0F7FF"/>
          </a:solidFill>
          <a:ln w="6350">
            <a:solidFill>
              <a:srgbClr val="D6E4F0"/>
            </a:solidFill>
            <a:prstDash val="solid"/>
          </a:ln>
        </p:spPr>
      </p:sp>
      <p:sp>
        <p:nvSpPr>
          <p:cNvPr id="18" name="Text 16"/>
          <p:cNvSpPr/>
          <p:nvPr/>
        </p:nvSpPr>
        <p:spPr>
          <a:xfrm>
            <a:off x="4407408" y="1892808"/>
            <a:ext cx="987552" cy="777240"/>
          </a:xfrm>
          <a:prstGeom prst="rect">
            <a:avLst/>
          </a:prstGeom>
          <a:noFill/>
          <a:ln/>
        </p:spPr>
        <p:txBody>
          <a:bodyPr wrap="square" lIns="0" tIns="0" rIns="0" bIns="0"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486400" y="1892808"/>
            <a:ext cx="4160520" cy="777240"/>
          </a:xfrm>
          <a:prstGeom prst="rect">
            <a:avLst/>
          </a:prstGeom>
          <a:solidFill>
            <a:srgbClr val="F0F7FF"/>
          </a:solidFill>
          <a:ln w="6350">
            <a:solidFill>
              <a:srgbClr val="D6E4F0"/>
            </a:solidFill>
            <a:prstDash val="solid"/>
          </a:ln>
        </p:spPr>
      </p:sp>
      <p:sp>
        <p:nvSpPr>
          <p:cNvPr id="20" name="Text 18"/>
          <p:cNvSpPr/>
          <p:nvPr/>
        </p:nvSpPr>
        <p:spPr>
          <a:xfrm>
            <a:off x="5550408" y="1892808"/>
            <a:ext cx="409651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機器にトークン投入→ VA から消費</a:t>
            </a:r>
            <a:endParaRPr lang="en-US" sz="1000" dirty="0"/>
          </a:p>
        </p:txBody>
      </p:sp>
      <p:sp>
        <p:nvSpPr>
          <p:cNvPr id="21" name="Shape 19"/>
          <p:cNvSpPr/>
          <p:nvPr/>
        </p:nvSpPr>
        <p:spPr>
          <a:xfrm>
            <a:off x="9738360" y="1892808"/>
            <a:ext cx="2514600" cy="777240"/>
          </a:xfrm>
          <a:prstGeom prst="rect">
            <a:avLst/>
          </a:prstGeom>
          <a:solidFill>
            <a:srgbClr val="F0F7FF"/>
          </a:solidFill>
          <a:ln w="6350">
            <a:solidFill>
              <a:srgbClr val="D6E4F0"/>
            </a:solidFill>
            <a:prstDash val="solid"/>
          </a:ln>
        </p:spPr>
      </p:sp>
      <p:sp>
        <p:nvSpPr>
          <p:cNvPr id="22" name="Text 20"/>
          <p:cNvSpPr/>
          <p:nvPr/>
        </p:nvSpPr>
        <p:spPr>
          <a:xfrm>
            <a:off x="9802368" y="1892808"/>
            <a:ext cx="245059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組織（SA/VA）</a:t>
            </a:r>
            <a:endParaRPr lang="en-US" sz="1000" dirty="0"/>
          </a:p>
        </p:txBody>
      </p:sp>
      <p:sp>
        <p:nvSpPr>
          <p:cNvPr id="23" name="Shape 21"/>
          <p:cNvSpPr/>
          <p:nvPr/>
        </p:nvSpPr>
        <p:spPr>
          <a:xfrm>
            <a:off x="182880" y="2688336"/>
            <a:ext cx="4069080" cy="594360"/>
          </a:xfrm>
          <a:prstGeom prst="rect">
            <a:avLst/>
          </a:prstGeom>
          <a:solidFill>
            <a:srgbClr val="FFFFFF"/>
          </a:solidFill>
          <a:ln w="6350">
            <a:solidFill>
              <a:srgbClr val="D6E4F0"/>
            </a:solidFill>
            <a:prstDash val="solid"/>
          </a:ln>
        </p:spPr>
      </p:sp>
      <p:sp>
        <p:nvSpPr>
          <p:cNvPr id="24" name="Text 22"/>
          <p:cNvSpPr/>
          <p:nvPr/>
        </p:nvSpPr>
        <p:spPr>
          <a:xfrm>
            <a:off x="246888" y="2688336"/>
            <a:ext cx="4005072" cy="59436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Enterprise Agreement（EA）</a:t>
            </a:r>
            <a:endParaRPr lang="en-US" sz="1000" dirty="0"/>
          </a:p>
        </p:txBody>
      </p:sp>
      <p:sp>
        <p:nvSpPr>
          <p:cNvPr id="25" name="Shape 23"/>
          <p:cNvSpPr/>
          <p:nvPr/>
        </p:nvSpPr>
        <p:spPr>
          <a:xfrm>
            <a:off x="4343400" y="2688336"/>
            <a:ext cx="1051560" cy="594360"/>
          </a:xfrm>
          <a:prstGeom prst="rect">
            <a:avLst/>
          </a:prstGeom>
          <a:solidFill>
            <a:srgbClr val="FFFFFF"/>
          </a:solidFill>
          <a:ln w="6350">
            <a:solidFill>
              <a:srgbClr val="D6E4F0"/>
            </a:solidFill>
            <a:prstDash val="solid"/>
          </a:ln>
        </p:spPr>
      </p:sp>
      <p:sp>
        <p:nvSpPr>
          <p:cNvPr id="26" name="Text 24"/>
          <p:cNvSpPr/>
          <p:nvPr/>
        </p:nvSpPr>
        <p:spPr>
          <a:xfrm>
            <a:off x="4407408" y="2688336"/>
            <a:ext cx="987552" cy="594360"/>
          </a:xfrm>
          <a:prstGeom prst="rect">
            <a:avLst/>
          </a:prstGeom>
          <a:noFill/>
          <a:ln/>
        </p:spPr>
        <p:txBody>
          <a:bodyPr wrap="square" lIns="0" tIns="0" rIns="0" bIns="0"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5486400" y="2688336"/>
            <a:ext cx="4160520" cy="594360"/>
          </a:xfrm>
          <a:prstGeom prst="rect">
            <a:avLst/>
          </a:prstGeom>
          <a:solidFill>
            <a:srgbClr val="FFFFFF"/>
          </a:solidFill>
          <a:ln w="6350">
            <a:solidFill>
              <a:srgbClr val="D6E4F0"/>
            </a:solidFill>
            <a:prstDash val="solid"/>
          </a:ln>
        </p:spPr>
      </p:sp>
      <p:sp>
        <p:nvSpPr>
          <p:cNvPr id="28" name="Text 26"/>
          <p:cNvSpPr/>
          <p:nvPr/>
        </p:nvSpPr>
        <p:spPr>
          <a:xfrm>
            <a:off x="5550408" y="2688336"/>
            <a:ext cx="4096512" cy="59436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EA Workspace で一括履行</a:t>
            </a:r>
            <a:endParaRPr lang="en-US" sz="1000" dirty="0"/>
          </a:p>
        </p:txBody>
      </p:sp>
      <p:sp>
        <p:nvSpPr>
          <p:cNvPr id="29" name="Shape 27"/>
          <p:cNvSpPr/>
          <p:nvPr/>
        </p:nvSpPr>
        <p:spPr>
          <a:xfrm>
            <a:off x="9738360" y="2688336"/>
            <a:ext cx="2514600" cy="594360"/>
          </a:xfrm>
          <a:prstGeom prst="rect">
            <a:avLst/>
          </a:prstGeom>
          <a:solidFill>
            <a:srgbClr val="FFFFFF"/>
          </a:solidFill>
          <a:ln w="6350">
            <a:solidFill>
              <a:srgbClr val="D6E4F0"/>
            </a:solidFill>
            <a:prstDash val="solid"/>
          </a:ln>
        </p:spPr>
      </p:sp>
      <p:sp>
        <p:nvSpPr>
          <p:cNvPr id="30" name="Text 28"/>
          <p:cNvSpPr/>
          <p:nvPr/>
        </p:nvSpPr>
        <p:spPr>
          <a:xfrm>
            <a:off x="9802368" y="2688336"/>
            <a:ext cx="2450592" cy="59436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組織（SA）</a:t>
            </a:r>
            <a:endParaRPr lang="en-US" sz="1000" dirty="0"/>
          </a:p>
        </p:txBody>
      </p:sp>
      <p:sp>
        <p:nvSpPr>
          <p:cNvPr id="31" name="Shape 29"/>
          <p:cNvSpPr/>
          <p:nvPr/>
        </p:nvSpPr>
        <p:spPr>
          <a:xfrm>
            <a:off x="182880" y="3483864"/>
            <a:ext cx="4069080" cy="777240"/>
          </a:xfrm>
          <a:prstGeom prst="rect">
            <a:avLst/>
          </a:prstGeom>
          <a:solidFill>
            <a:srgbClr val="F0F7FF"/>
          </a:solidFill>
          <a:ln w="6350">
            <a:solidFill>
              <a:srgbClr val="D6E4F0"/>
            </a:solidFill>
            <a:prstDash val="solid"/>
          </a:ln>
        </p:spPr>
      </p:sp>
      <p:sp>
        <p:nvSpPr>
          <p:cNvPr id="32" name="Text 30"/>
          <p:cNvSpPr/>
          <p:nvPr/>
        </p:nvSpPr>
        <p:spPr>
          <a:xfrm>
            <a:off x="246888" y="3483864"/>
            <a:ext cx="400507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Cisco Networking Subscription</a:t>
            </a:r>
            <a:endParaRPr lang="en-US" sz="1000" dirty="0"/>
          </a:p>
          <a:p>
            <a:pPr algn="l" indent="0" marL="0">
              <a:buNone/>
            </a:pPr>
            <a:r>
              <a:rPr lang="en-US" sz="1000" dirty="0">
                <a:solidFill>
                  <a:srgbClr val="4A6080"/>
                </a:solidFill>
                <a:latin typeface="Calibri" pitchFamily="34" charset="0"/>
                <a:ea typeface="Calibri" pitchFamily="34" charset="-122"/>
                <a:cs typeface="Calibri" pitchFamily="34" charset="-120"/>
              </a:rPr>
              <a:t>サブスク型・Meraki 可</a:t>
            </a:r>
            <a:endParaRPr lang="en-US" sz="1000" dirty="0"/>
          </a:p>
        </p:txBody>
      </p:sp>
      <p:sp>
        <p:nvSpPr>
          <p:cNvPr id="33" name="Shape 31"/>
          <p:cNvSpPr/>
          <p:nvPr/>
        </p:nvSpPr>
        <p:spPr>
          <a:xfrm>
            <a:off x="4343400" y="3483864"/>
            <a:ext cx="1051560" cy="777240"/>
          </a:xfrm>
          <a:prstGeom prst="rect">
            <a:avLst/>
          </a:prstGeom>
          <a:solidFill>
            <a:srgbClr val="F0F7FF"/>
          </a:solidFill>
          <a:ln w="6350">
            <a:solidFill>
              <a:srgbClr val="D6E4F0"/>
            </a:solidFill>
            <a:prstDash val="solid"/>
          </a:ln>
        </p:spPr>
      </p:sp>
      <p:sp>
        <p:nvSpPr>
          <p:cNvPr id="34" name="Text 32"/>
          <p:cNvSpPr/>
          <p:nvPr/>
        </p:nvSpPr>
        <p:spPr>
          <a:xfrm>
            <a:off x="4407408" y="3483864"/>
            <a:ext cx="987552" cy="777240"/>
          </a:xfrm>
          <a:prstGeom prst="rect">
            <a:avLst/>
          </a:prstGeom>
          <a:noFill/>
          <a:ln/>
        </p:spPr>
        <p:txBody>
          <a:bodyPr wrap="square" lIns="0" tIns="0" rIns="0" bIns="0"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5486400" y="3483864"/>
            <a:ext cx="4160520" cy="777240"/>
          </a:xfrm>
          <a:prstGeom prst="rect">
            <a:avLst/>
          </a:prstGeom>
          <a:solidFill>
            <a:srgbClr val="F0F7FF"/>
          </a:solidFill>
          <a:ln w="6350">
            <a:solidFill>
              <a:srgbClr val="D6E4F0"/>
            </a:solidFill>
            <a:prstDash val="solid"/>
          </a:ln>
        </p:spPr>
      </p:sp>
      <p:sp>
        <p:nvSpPr>
          <p:cNvPr id="36" name="Text 34"/>
          <p:cNvSpPr/>
          <p:nvPr/>
        </p:nvSpPr>
        <p:spPr>
          <a:xfrm>
            <a:off x="5550408" y="3483864"/>
            <a:ext cx="409651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ダッシュボードでデバイス割当</a:t>
            </a:r>
            <a:endParaRPr lang="en-US" sz="1000" dirty="0"/>
          </a:p>
        </p:txBody>
      </p:sp>
      <p:sp>
        <p:nvSpPr>
          <p:cNvPr id="37" name="Shape 35"/>
          <p:cNvSpPr/>
          <p:nvPr/>
        </p:nvSpPr>
        <p:spPr>
          <a:xfrm>
            <a:off x="9738360" y="3483864"/>
            <a:ext cx="2514600" cy="777240"/>
          </a:xfrm>
          <a:prstGeom prst="rect">
            <a:avLst/>
          </a:prstGeom>
          <a:solidFill>
            <a:srgbClr val="F0F7FF"/>
          </a:solidFill>
          <a:ln w="6350">
            <a:solidFill>
              <a:srgbClr val="D6E4F0"/>
            </a:solidFill>
            <a:prstDash val="solid"/>
          </a:ln>
        </p:spPr>
      </p:sp>
      <p:sp>
        <p:nvSpPr>
          <p:cNvPr id="38" name="Text 36"/>
          <p:cNvSpPr/>
          <p:nvPr/>
        </p:nvSpPr>
        <p:spPr>
          <a:xfrm>
            <a:off x="9802368" y="3483864"/>
            <a:ext cx="245059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組織（SA/VA）＋ NW</a:t>
            </a:r>
            <a:endParaRPr lang="en-US" sz="1000" dirty="0"/>
          </a:p>
        </p:txBody>
      </p:sp>
      <p:sp>
        <p:nvSpPr>
          <p:cNvPr id="39" name="Shape 37"/>
          <p:cNvSpPr/>
          <p:nvPr/>
        </p:nvSpPr>
        <p:spPr>
          <a:xfrm>
            <a:off x="182880" y="4279392"/>
            <a:ext cx="4069080" cy="777240"/>
          </a:xfrm>
          <a:prstGeom prst="rect">
            <a:avLst/>
          </a:prstGeom>
          <a:solidFill>
            <a:srgbClr val="FDEDEC"/>
          </a:solidFill>
          <a:ln w="6350">
            <a:solidFill>
              <a:srgbClr val="D6E4F0"/>
            </a:solidFill>
            <a:prstDash val="solid"/>
          </a:ln>
        </p:spPr>
      </p:sp>
      <p:sp>
        <p:nvSpPr>
          <p:cNvPr id="40" name="Text 38"/>
          <p:cNvSpPr/>
          <p:nvPr/>
        </p:nvSpPr>
        <p:spPr>
          <a:xfrm>
            <a:off x="246888" y="4279392"/>
            <a:ext cx="400507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従来 Meraki</a:t>
            </a:r>
            <a:endParaRPr lang="en-US" sz="1000" dirty="0"/>
          </a:p>
          <a:p>
            <a:pPr algn="l" indent="0" marL="0">
              <a:buNone/>
            </a:pPr>
            <a:r>
              <a:rPr lang="en-US" sz="1000" dirty="0">
                <a:solidFill>
                  <a:srgbClr val="4A6080"/>
                </a:solidFill>
                <a:latin typeface="Calibri" pitchFamily="34" charset="0"/>
                <a:ea typeface="Calibri" pitchFamily="34" charset="-122"/>
                <a:cs typeface="Calibri" pitchFamily="34" charset="-120"/>
              </a:rPr>
              <a:t>Co-term / PDL</a:t>
            </a:r>
            <a:endParaRPr lang="en-US" sz="1000" dirty="0"/>
          </a:p>
        </p:txBody>
      </p:sp>
      <p:sp>
        <p:nvSpPr>
          <p:cNvPr id="41" name="Shape 39"/>
          <p:cNvSpPr/>
          <p:nvPr/>
        </p:nvSpPr>
        <p:spPr>
          <a:xfrm>
            <a:off x="4343400" y="4279392"/>
            <a:ext cx="1051560" cy="777240"/>
          </a:xfrm>
          <a:prstGeom prst="rect">
            <a:avLst/>
          </a:prstGeom>
          <a:solidFill>
            <a:srgbClr val="FDEDEC"/>
          </a:solidFill>
          <a:ln w="6350">
            <a:solidFill>
              <a:srgbClr val="D6E4F0"/>
            </a:solidFill>
            <a:prstDash val="solid"/>
          </a:ln>
        </p:spPr>
      </p:sp>
      <p:sp>
        <p:nvSpPr>
          <p:cNvPr id="42" name="Text 40"/>
          <p:cNvSpPr/>
          <p:nvPr/>
        </p:nvSpPr>
        <p:spPr>
          <a:xfrm>
            <a:off x="4407408" y="4279392"/>
            <a:ext cx="987552" cy="77724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5486400" y="4279392"/>
            <a:ext cx="4160520" cy="777240"/>
          </a:xfrm>
          <a:prstGeom prst="rect">
            <a:avLst/>
          </a:prstGeom>
          <a:solidFill>
            <a:srgbClr val="FDEDEC"/>
          </a:solidFill>
          <a:ln w="6350">
            <a:solidFill>
              <a:srgbClr val="D6E4F0"/>
            </a:solidFill>
            <a:prstDash val="solid"/>
          </a:ln>
        </p:spPr>
      </p:sp>
      <p:sp>
        <p:nvSpPr>
          <p:cNvPr id="44" name="Text 42"/>
          <p:cNvSpPr/>
          <p:nvPr/>
        </p:nvSpPr>
        <p:spPr>
          <a:xfrm>
            <a:off x="5550408" y="4279392"/>
            <a:ext cx="409651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ダッシュボードでキーを Claim</a:t>
            </a:r>
            <a:endParaRPr lang="en-US" sz="1000" dirty="0"/>
          </a:p>
        </p:txBody>
      </p:sp>
      <p:sp>
        <p:nvSpPr>
          <p:cNvPr id="45" name="Shape 43"/>
          <p:cNvSpPr/>
          <p:nvPr/>
        </p:nvSpPr>
        <p:spPr>
          <a:xfrm>
            <a:off x="9738360" y="4279392"/>
            <a:ext cx="2514600" cy="777240"/>
          </a:xfrm>
          <a:prstGeom prst="rect">
            <a:avLst/>
          </a:prstGeom>
          <a:solidFill>
            <a:srgbClr val="FDEDEC"/>
          </a:solidFill>
          <a:ln w="6350">
            <a:solidFill>
              <a:srgbClr val="D6E4F0"/>
            </a:solidFill>
            <a:prstDash val="solid"/>
          </a:ln>
        </p:spPr>
      </p:sp>
      <p:sp>
        <p:nvSpPr>
          <p:cNvPr id="46" name="Text 44"/>
          <p:cNvSpPr/>
          <p:nvPr/>
        </p:nvSpPr>
        <p:spPr>
          <a:xfrm>
            <a:off x="9802368" y="4279392"/>
            <a:ext cx="2450592" cy="77724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組織 / デバイス</a:t>
            </a:r>
            <a:endParaRPr lang="en-US" sz="1000" dirty="0"/>
          </a:p>
        </p:txBody>
      </p:sp>
      <p:sp>
        <p:nvSpPr>
          <p:cNvPr id="47" name="Shape 45"/>
          <p:cNvSpPr/>
          <p:nvPr/>
        </p:nvSpPr>
        <p:spPr>
          <a:xfrm>
            <a:off x="182880" y="5074920"/>
            <a:ext cx="4069080" cy="594360"/>
          </a:xfrm>
          <a:prstGeom prst="rect">
            <a:avLst/>
          </a:prstGeom>
          <a:solidFill>
            <a:srgbClr val="FDEDEC"/>
          </a:solidFill>
          <a:ln w="6350">
            <a:solidFill>
              <a:srgbClr val="D6E4F0"/>
            </a:solidFill>
            <a:prstDash val="solid"/>
          </a:ln>
        </p:spPr>
      </p:sp>
      <p:sp>
        <p:nvSpPr>
          <p:cNvPr id="48" name="Text 46"/>
          <p:cNvSpPr/>
          <p:nvPr/>
        </p:nvSpPr>
        <p:spPr>
          <a:xfrm>
            <a:off x="246888" y="5074920"/>
            <a:ext cx="4005072" cy="59436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PAK（従来型）</a:t>
            </a:r>
            <a:endParaRPr lang="en-US" sz="1000" dirty="0"/>
          </a:p>
        </p:txBody>
      </p:sp>
      <p:sp>
        <p:nvSpPr>
          <p:cNvPr id="49" name="Shape 47"/>
          <p:cNvSpPr/>
          <p:nvPr/>
        </p:nvSpPr>
        <p:spPr>
          <a:xfrm>
            <a:off x="4343400" y="5074920"/>
            <a:ext cx="1051560" cy="594360"/>
          </a:xfrm>
          <a:prstGeom prst="rect">
            <a:avLst/>
          </a:prstGeom>
          <a:solidFill>
            <a:srgbClr val="FDEDEC"/>
          </a:solidFill>
          <a:ln w="6350">
            <a:solidFill>
              <a:srgbClr val="D6E4F0"/>
            </a:solidFill>
            <a:prstDash val="solid"/>
          </a:ln>
        </p:spPr>
      </p:sp>
      <p:sp>
        <p:nvSpPr>
          <p:cNvPr id="50" name="Text 48"/>
          <p:cNvSpPr/>
          <p:nvPr/>
        </p:nvSpPr>
        <p:spPr>
          <a:xfrm>
            <a:off x="4407408" y="5074920"/>
            <a:ext cx="987552" cy="59436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a:t>
            </a:r>
            <a:endParaRPr lang="en-US" sz="1000" dirty="0"/>
          </a:p>
        </p:txBody>
      </p:sp>
      <p:sp>
        <p:nvSpPr>
          <p:cNvPr id="51" name="Shape 49"/>
          <p:cNvSpPr/>
          <p:nvPr/>
        </p:nvSpPr>
        <p:spPr>
          <a:xfrm>
            <a:off x="5486400" y="5074920"/>
            <a:ext cx="4160520" cy="594360"/>
          </a:xfrm>
          <a:prstGeom prst="rect">
            <a:avLst/>
          </a:prstGeom>
          <a:solidFill>
            <a:srgbClr val="FDEDEC"/>
          </a:solidFill>
          <a:ln w="6350">
            <a:solidFill>
              <a:srgbClr val="D6E4F0"/>
            </a:solidFill>
            <a:prstDash val="solid"/>
          </a:ln>
        </p:spPr>
      </p:sp>
      <p:sp>
        <p:nvSpPr>
          <p:cNvPr id="52" name="Text 50"/>
          <p:cNvSpPr/>
          <p:nvPr/>
        </p:nvSpPr>
        <p:spPr>
          <a:xfrm>
            <a:off x="5550408" y="5074920"/>
            <a:ext cx="4096512" cy="59436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キーを機器に手動登録</a:t>
            </a:r>
            <a:endParaRPr lang="en-US" sz="1000" dirty="0"/>
          </a:p>
        </p:txBody>
      </p:sp>
      <p:sp>
        <p:nvSpPr>
          <p:cNvPr id="53" name="Shape 51"/>
          <p:cNvSpPr/>
          <p:nvPr/>
        </p:nvSpPr>
        <p:spPr>
          <a:xfrm>
            <a:off x="9738360" y="5074920"/>
            <a:ext cx="2514600" cy="594360"/>
          </a:xfrm>
          <a:prstGeom prst="rect">
            <a:avLst/>
          </a:prstGeom>
          <a:solidFill>
            <a:srgbClr val="FDEDEC"/>
          </a:solidFill>
          <a:ln w="6350">
            <a:solidFill>
              <a:srgbClr val="D6E4F0"/>
            </a:solidFill>
            <a:prstDash val="solid"/>
          </a:ln>
        </p:spPr>
      </p:sp>
      <p:sp>
        <p:nvSpPr>
          <p:cNvPr id="54" name="Text 52"/>
          <p:cNvSpPr/>
          <p:nvPr/>
        </p:nvSpPr>
        <p:spPr>
          <a:xfrm>
            <a:off x="9802368" y="5074920"/>
            <a:ext cx="2450592" cy="594360"/>
          </a:xfrm>
          <a:prstGeom prst="rect">
            <a:avLst/>
          </a:prstGeom>
          <a:noFill/>
          <a:ln/>
        </p:spPr>
        <p:txBody>
          <a:bodyPr wrap="square" lIns="0" tIns="0" rIns="0" bIns="0" rtlCol="0" anchor="ctr"/>
          <a:lstStyle/>
          <a:p>
            <a:pPr algn="l" indent="0" marL="0">
              <a:buNone/>
            </a:pPr>
            <a:r>
              <a:rPr lang="en-US" sz="1000" dirty="0">
                <a:solidFill>
                  <a:srgbClr val="4A6080"/>
                </a:solidFill>
                <a:latin typeface="Calibri" pitchFamily="34" charset="0"/>
                <a:ea typeface="Calibri" pitchFamily="34" charset="-122"/>
                <a:cs typeface="Calibri" pitchFamily="34" charset="-120"/>
              </a:rPr>
              <a:t>機器（ノードロック）</a:t>
            </a:r>
            <a:endParaRPr lang="en-US" sz="1000" dirty="0"/>
          </a:p>
        </p:txBody>
      </p:sp>
      <p:sp>
        <p:nvSpPr>
          <p:cNvPr id="55" name="Shape 53"/>
          <p:cNvSpPr/>
          <p:nvPr/>
        </p:nvSpPr>
        <p:spPr>
          <a:xfrm>
            <a:off x="182880" y="5897880"/>
            <a:ext cx="11795760" cy="640080"/>
          </a:xfrm>
          <a:prstGeom prst="roundRect">
            <a:avLst>
              <a:gd name="adj" fmla="val 8571"/>
            </a:avLst>
          </a:prstGeom>
          <a:solidFill>
            <a:srgbClr val="F0F7FF"/>
          </a:solidFill>
          <a:ln w="12700">
            <a:solidFill>
              <a:srgbClr val="2E86C1"/>
            </a:solidFill>
            <a:prstDash val="solid"/>
          </a:ln>
        </p:spPr>
      </p:sp>
      <p:sp>
        <p:nvSpPr>
          <p:cNvPr id="56" name="Text 54"/>
          <p:cNvSpPr/>
          <p:nvPr/>
        </p:nvSpPr>
        <p:spPr>
          <a:xfrm>
            <a:off x="320040" y="5943600"/>
            <a:ext cx="11430000" cy="5486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SA 管理の中でも投入方法は分かれる：SLP は投入まで VA 連動、Meraki サブスクは在庫は SA・投入だけダッシュボードに分離。</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2026-08-06T00:12:23Z</dcterms:created>
  <dcterms:modified xsi:type="dcterms:W3CDTF">2026-08-06T00:12:23Z</dcterms:modified>
</cp:coreProperties>
</file>